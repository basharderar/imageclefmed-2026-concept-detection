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72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6921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rcRect l="7178" r="7178"/>
          <a:stretch/>
        </p:blipFill>
        <p:spPr>
          <a:xfrm>
            <a:off x="8150352" y="1344871"/>
            <a:ext cx="3474720" cy="4389120"/>
          </a:xfrm>
          <a:prstGeom prst="rect">
            <a:avLst/>
          </a:prstGeom>
        </p:spPr>
      </p:pic>
      <p:pic>
        <p:nvPicPr>
          <p:cNvPr id="3" name="Image 1" descr="/mnt/data/pptx_unzip/ppt/media/image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07" y="320040"/>
            <a:ext cx="957626" cy="658368"/>
          </a:xfrm>
          <a:prstGeom prst="rect">
            <a:avLst/>
          </a:prstGeom>
        </p:spPr>
      </p:pic>
      <p:pic>
        <p:nvPicPr>
          <p:cNvPr id="4" name="Image 2" descr="/mnt/data/pptx_unzip/ppt/media/image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012" y="301752"/>
            <a:ext cx="1141748" cy="6766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85216" y="119329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" name="Text 1"/>
          <p:cNvSpPr/>
          <p:nvPr/>
        </p:nvSpPr>
        <p:spPr>
          <a:xfrm>
            <a:off x="658368" y="1280746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PROJECT DEFENSE</a:t>
            </a:r>
            <a:endParaRPr lang="en-US" sz="850" dirty="0"/>
          </a:p>
        </p:txBody>
      </p:sp>
      <p:sp>
        <p:nvSpPr>
          <p:cNvPr id="7" name="Text 2"/>
          <p:cNvSpPr/>
          <p:nvPr/>
        </p:nvSpPr>
        <p:spPr>
          <a:xfrm>
            <a:off x="566928" y="1700784"/>
            <a:ext cx="65836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Frequency-Aware Multi-Head Learning for Long-Tailed Medical Concept Detection</a:t>
            </a:r>
            <a:endParaRPr lang="en-US" sz="3300" dirty="0"/>
          </a:p>
        </p:txBody>
      </p:sp>
      <p:sp>
        <p:nvSpPr>
          <p:cNvPr id="8" name="Text 3"/>
          <p:cNvSpPr/>
          <p:nvPr/>
        </p:nvSpPr>
        <p:spPr>
          <a:xfrm>
            <a:off x="589202" y="309067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D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for Concept-Based Medical Caption Generation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603504" y="3657600"/>
            <a:ext cx="4846320" cy="0"/>
          </a:xfrm>
          <a:prstGeom prst="line">
            <a:avLst/>
          </a:prstGeom>
          <a:noFill/>
          <a:ln w="15240">
            <a:solidFill>
              <a:srgbClr val="74D2E7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5"/>
          <p:cNvSpPr/>
          <p:nvPr/>
        </p:nvSpPr>
        <p:spPr>
          <a:xfrm>
            <a:off x="603504" y="3886200"/>
            <a:ext cx="6492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2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by: Bashar Alsaleh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2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Supervisors: Dr. Riad Sonbol • Eng. Zeinab Baghdadi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2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Syrian Private University — Faculty of Artificial Intelligence Engineering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03504" y="5321808"/>
            <a:ext cx="19202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7"/>
          <p:cNvSpPr/>
          <p:nvPr/>
        </p:nvSpPr>
        <p:spPr>
          <a:xfrm>
            <a:off x="603504" y="5321808"/>
            <a:ext cx="82296" cy="969264"/>
          </a:xfrm>
          <a:prstGeom prst="rect">
            <a:avLst/>
          </a:prstGeom>
          <a:solidFill>
            <a:srgbClr val="74D2E7"/>
          </a:solidFill>
          <a:ln w="12700">
            <a:solidFill>
              <a:srgbClr val="74D2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768096" y="544982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74D2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0.5725</a:t>
            </a:r>
            <a:endParaRPr lang="en-US" sz="2500" dirty="0"/>
          </a:p>
        </p:txBody>
      </p:sp>
      <p:sp>
        <p:nvSpPr>
          <p:cNvPr id="14" name="Text 9"/>
          <p:cNvSpPr/>
          <p:nvPr/>
        </p:nvSpPr>
        <p:spPr>
          <a:xfrm>
            <a:off x="768096" y="5833872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test score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768096" y="605332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ImageCLEFmed Caption 2026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2697480" y="5321808"/>
            <a:ext cx="155448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2697480" y="5321808"/>
            <a:ext cx="82296" cy="969264"/>
          </a:xfrm>
          <a:prstGeom prst="rect">
            <a:avLst/>
          </a:prstGeom>
          <a:solidFill>
            <a:srgbClr val="E6A700"/>
          </a:solidFill>
          <a:ln w="12700">
            <a:solidFill>
              <a:srgbClr val="E6A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2862072" y="54498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6A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4th</a:t>
            </a:r>
            <a:endParaRPr lang="en-US" sz="2500" dirty="0"/>
          </a:p>
        </p:txBody>
      </p:sp>
      <p:sp>
        <p:nvSpPr>
          <p:cNvPr id="19" name="Text 14"/>
          <p:cNvSpPr/>
          <p:nvPr/>
        </p:nvSpPr>
        <p:spPr>
          <a:xfrm>
            <a:off x="2862072" y="583387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rank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2862072" y="60533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Detection Task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4434840" y="5321808"/>
            <a:ext cx="201168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4434840" y="5321808"/>
            <a:ext cx="82296" cy="969264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8"/>
          <p:cNvSpPr/>
          <p:nvPr/>
        </p:nvSpPr>
        <p:spPr>
          <a:xfrm>
            <a:off x="4599432" y="544982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8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0.5441</a:t>
            </a:r>
            <a:endParaRPr lang="en-US" sz="2500" dirty="0"/>
          </a:p>
        </p:txBody>
      </p:sp>
      <p:sp>
        <p:nvSpPr>
          <p:cNvPr id="24" name="Text 19"/>
          <p:cNvSpPr/>
          <p:nvPr/>
        </p:nvSpPr>
        <p:spPr>
          <a:xfrm>
            <a:off x="4599432" y="5833872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Micro-F1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99432" y="60533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3-fold internal validation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125F68"/>
                </a:solidFill>
              </a:rPr>
              <a:t>1/17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• Concept Detection</a:t>
            </a:r>
            <a:endParaRPr lang="en-US" sz="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A746D2-EFEF-E8BE-7798-A289714125D9}"/>
              </a:ext>
            </a:extLst>
          </p:cNvPr>
          <p:cNvSpPr txBox="1"/>
          <p:nvPr/>
        </p:nvSpPr>
        <p:spPr>
          <a:xfrm>
            <a:off x="4904466" y="6446520"/>
            <a:ext cx="23830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500">
                <a:solidFill>
                  <a:srgbClr val="DCE8F2"/>
                </a:solidFill>
                <a:latin typeface="Aptos"/>
              </a:defRPr>
            </a:pPr>
            <a:r>
              <a:rPr lang="en-US" sz="1000" dirty="0"/>
              <a:t>Defense date: 02/06/2026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 path from task formulation to official results and final conclusions.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125F68"/>
                </a:solidFill>
              </a:rPr>
              <a:t>2/17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• Concept Detection</a:t>
            </a:r>
            <a:endParaRPr lang="en-US" sz="800" dirty="0"/>
          </a:p>
        </p:txBody>
      </p:sp>
      <p:pic>
        <p:nvPicPr>
          <p:cNvPr id="9" name="Image 0" descr="/mnt/data/pptx_unzip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37744"/>
            <a:ext cx="731520" cy="502920"/>
          </a:xfrm>
          <a:prstGeom prst="rect">
            <a:avLst/>
          </a:prstGeom>
        </p:spPr>
      </p:pic>
      <p:pic>
        <p:nvPicPr>
          <p:cNvPr id="10" name="Image 1" descr="/mnt/data/pptx_unzip/ppt/media/image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18077"/>
            <a:ext cx="868680" cy="51482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68680" y="1508760"/>
            <a:ext cx="457200" cy="457200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005840" y="1600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536192" y="1499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task framing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554480" y="180136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concept detection matters for medical caption generation.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1097280" y="1975104"/>
            <a:ext cx="0" cy="384048"/>
          </a:xfrm>
          <a:prstGeom prst="line">
            <a:avLst/>
          </a:prstGeom>
          <a:noFill/>
          <a:ln w="15240">
            <a:solidFill>
              <a:srgbClr val="A9BCC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1005840" y="24688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536192" y="2368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challenge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1554480" y="267004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multi-label targets and severe long-tail imbalance.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1097280" y="2843784"/>
            <a:ext cx="0" cy="384048"/>
          </a:xfrm>
          <a:prstGeom prst="line">
            <a:avLst/>
          </a:prstGeom>
          <a:noFill/>
          <a:ln w="15240">
            <a:solidFill>
              <a:srgbClr val="A9BCC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868680" y="3246120"/>
            <a:ext cx="457200" cy="457200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8"/>
          <p:cNvSpPr/>
          <p:nvPr/>
        </p:nvSpPr>
        <p:spPr>
          <a:xfrm>
            <a:off x="1005840" y="3337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536192" y="3236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 b="1">
                <a:solidFill>
                  <a:srgbClr val="1C3756"/>
                </a:solidFill>
              </a:rPr>
              <a:t>Related work &amp; method evolution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1554480" y="353872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5C6974"/>
                </a:solidFill>
              </a:rPr>
              <a:t>Positioning against prior systems, then baseline → graph head → final Swin model.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1097280" y="3712464"/>
            <a:ext cx="0" cy="384048"/>
          </a:xfrm>
          <a:prstGeom prst="line">
            <a:avLst/>
          </a:prstGeom>
          <a:noFill/>
          <a:ln w="15240">
            <a:solidFill>
              <a:srgbClr val="A9BCC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6" name="Shape 22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1005840" y="4206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536192" y="4105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system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1554480" y="440740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Architecture, training strategy, and per-head calibration.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1097280" y="4581144"/>
            <a:ext cx="0" cy="384048"/>
          </a:xfrm>
          <a:prstGeom prst="line">
            <a:avLst/>
          </a:prstGeom>
          <a:noFill/>
          <a:ln w="15240">
            <a:solidFill>
              <a:srgbClr val="A9BCC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868680" y="4983480"/>
            <a:ext cx="457200" cy="457200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1005840" y="5074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536192" y="49743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 b="1">
                <a:solidFill>
                  <a:srgbClr val="1C3756"/>
                </a:solidFill>
              </a:rPr>
              <a:t>Results, benchmarks &amp; contribution</a:t>
            </a:r>
            <a:endParaRPr lang="en-US" sz="1700" dirty="0"/>
          </a:p>
        </p:txBody>
      </p:sp>
      <p:sp>
        <p:nvSpPr>
          <p:cNvPr id="34" name="Text 30"/>
          <p:cNvSpPr/>
          <p:nvPr/>
        </p:nvSpPr>
        <p:spPr>
          <a:xfrm>
            <a:off x="1554480" y="52760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5C6974"/>
                </a:solidFill>
              </a:rPr>
              <a:t>Internal validation, official ranking, comparison with references, and final conclusions.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sz="2500" b="1">
                <a:solidFill>
                  <a:srgbClr val="1C3756"/>
                </a:solidFill>
              </a:rPr>
              <a:t>1) Problem Framing: From Radiology Images to Medical Concepts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focuses on concept detection as the semantic bridge toward caption generation.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125F68"/>
                </a:solidFill>
              </a:rPr>
              <a:t>3/17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• Concept Detection</a:t>
            </a:r>
            <a:endParaRPr lang="en-US" sz="800" dirty="0"/>
          </a:p>
        </p:txBody>
      </p:sp>
      <p:pic>
        <p:nvPicPr>
          <p:cNvPr id="9" name="Image 0" descr="/mnt/data/pptx_unzip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37744"/>
            <a:ext cx="731520" cy="502920"/>
          </a:xfrm>
          <a:prstGeom prst="rect">
            <a:avLst/>
          </a:prstGeom>
        </p:spPr>
      </p:pic>
      <p:pic>
        <p:nvPicPr>
          <p:cNvPr id="10" name="Image 1" descr="/mnt/data/pptx_unzip/ppt/media/image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18077"/>
            <a:ext cx="868680" cy="514823"/>
          </a:xfrm>
          <a:prstGeom prst="rect">
            <a:avLst/>
          </a:prstGeom>
        </p:spPr>
      </p:pic>
      <p:pic>
        <p:nvPicPr>
          <p:cNvPr id="11" name="Image 2" descr="/mnt/data/pptx_unzip/ppt/media/image3.png"/>
          <p:cNvPicPr>
            <a:picLocks noChangeAspect="1"/>
          </p:cNvPicPr>
          <p:nvPr/>
        </p:nvPicPr>
        <p:blipFill>
          <a:blip r:embed="rId5"/>
          <a:srcRect l="3729" r="3729"/>
          <a:stretch/>
        </p:blipFill>
        <p:spPr>
          <a:xfrm>
            <a:off x="685800" y="1417320"/>
            <a:ext cx="2331720" cy="19202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246120" y="2039112"/>
            <a:ext cx="731520" cy="548640"/>
          </a:xfrm>
          <a:prstGeom prst="chevron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8"/>
          <p:cNvSpPr/>
          <p:nvPr/>
        </p:nvSpPr>
        <p:spPr>
          <a:xfrm>
            <a:off x="4160520" y="1810512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4" name="Shape 9"/>
          <p:cNvSpPr/>
          <p:nvPr/>
        </p:nvSpPr>
        <p:spPr>
          <a:xfrm>
            <a:off x="4160520" y="1810981"/>
            <a:ext cx="3063240" cy="6400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4325112" y="1874989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detector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325112" y="2240749"/>
            <a:ext cx="273405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a multi-label set of UMLS Concept Unique Identifiers (CUIs) for each image.</a:t>
            </a:r>
            <a:endParaRPr lang="en-US" sz="1140" dirty="0"/>
          </a:p>
        </p:txBody>
      </p:sp>
      <p:sp>
        <p:nvSpPr>
          <p:cNvPr id="17" name="Shape 12"/>
          <p:cNvSpPr/>
          <p:nvPr/>
        </p:nvSpPr>
        <p:spPr>
          <a:xfrm>
            <a:off x="7498080" y="2039112"/>
            <a:ext cx="731520" cy="548640"/>
          </a:xfrm>
          <a:prstGeom prst="chevron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3"/>
          <p:cNvSpPr/>
          <p:nvPr/>
        </p:nvSpPr>
        <p:spPr>
          <a:xfrm>
            <a:off x="8321040" y="181567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8321040" y="1810981"/>
            <a:ext cx="3063240" cy="64008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8485632" y="1911096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Downstream captioning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85632" y="2235708"/>
            <a:ext cx="273405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predicted concepts as an interpretable semantic layer before generating text.</a:t>
            </a:r>
            <a:endParaRPr lang="en-US" sz="1140" dirty="0"/>
          </a:p>
        </p:txBody>
      </p:sp>
      <p:sp>
        <p:nvSpPr>
          <p:cNvPr id="22" name="Shape 17"/>
          <p:cNvSpPr/>
          <p:nvPr/>
        </p:nvSpPr>
        <p:spPr>
          <a:xfrm>
            <a:off x="685800" y="379476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685800" y="3794760"/>
            <a:ext cx="2926080" cy="64008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9"/>
          <p:cNvSpPr/>
          <p:nvPr/>
        </p:nvSpPr>
        <p:spPr>
          <a:xfrm>
            <a:off x="850392" y="394106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50392" y="4306824"/>
            <a:ext cx="259689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radiology image that may contain multiple anatomical structures, modalities, or findings.</a:t>
            </a:r>
            <a:endParaRPr lang="en-US" sz="1140" dirty="0"/>
          </a:p>
        </p:txBody>
      </p:sp>
      <p:sp>
        <p:nvSpPr>
          <p:cNvPr id="26" name="Shape 21"/>
          <p:cNvSpPr/>
          <p:nvPr/>
        </p:nvSpPr>
        <p:spPr>
          <a:xfrm>
            <a:off x="3794760" y="379476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2"/>
          <p:cNvSpPr/>
          <p:nvPr/>
        </p:nvSpPr>
        <p:spPr>
          <a:xfrm>
            <a:off x="3794760" y="3794760"/>
            <a:ext cx="2926080" cy="6400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3"/>
          <p:cNvSpPr/>
          <p:nvPr/>
        </p:nvSpPr>
        <p:spPr>
          <a:xfrm>
            <a:off x="3959352" y="394106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3959352" y="4306824"/>
            <a:ext cx="259689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sparse set of clinically relevant UMLS-aligned concepts.</a:t>
            </a:r>
            <a:endParaRPr lang="en-US" sz="1140" dirty="0"/>
          </a:p>
        </p:txBody>
      </p:sp>
      <p:sp>
        <p:nvSpPr>
          <p:cNvPr id="30" name="Shape 25"/>
          <p:cNvSpPr/>
          <p:nvPr/>
        </p:nvSpPr>
        <p:spPr>
          <a:xfrm>
            <a:off x="6903720" y="3794760"/>
            <a:ext cx="4480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6"/>
          <p:cNvSpPr/>
          <p:nvPr/>
        </p:nvSpPr>
        <p:spPr>
          <a:xfrm>
            <a:off x="6903720" y="3794760"/>
            <a:ext cx="4480560" cy="64008"/>
          </a:xfrm>
          <a:prstGeom prst="rect">
            <a:avLst/>
          </a:prstGeom>
          <a:solidFill>
            <a:srgbClr val="E6A700"/>
          </a:solidFill>
          <a:ln w="12700">
            <a:solidFill>
              <a:srgbClr val="E6A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7"/>
          <p:cNvSpPr/>
          <p:nvPr/>
        </p:nvSpPr>
        <p:spPr>
          <a:xfrm>
            <a:off x="7068312" y="3941064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challenge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7068312" y="4306824"/>
            <a:ext cx="415137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label space, rare concepts, severe imbalance, and decision thresholds that strongly influence the final predicted concept set.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C3756"/>
                </a:solidFill>
              </a:rPr>
              <a:t>2) Task Definition and Evaluation Logic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task is a large-scale multi-label classification problem with calibrated decision boundaries.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125F68"/>
                </a:solidFill>
              </a:rPr>
              <a:t>4/17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• Concept Detection</a:t>
            </a:r>
            <a:endParaRPr lang="en-US" sz="800" dirty="0"/>
          </a:p>
        </p:txBody>
      </p:sp>
      <p:pic>
        <p:nvPicPr>
          <p:cNvPr id="9" name="Image 0" descr="/mnt/data/pptx_unzip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37744"/>
            <a:ext cx="731520" cy="502920"/>
          </a:xfrm>
          <a:prstGeom prst="rect">
            <a:avLst/>
          </a:prstGeom>
        </p:spPr>
      </p:pic>
      <p:pic>
        <p:nvPicPr>
          <p:cNvPr id="10" name="Image 1" descr="/mnt/data/pptx_unzip/ppt/media/image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18077"/>
            <a:ext cx="868680" cy="51482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85800" y="137160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685800" y="1371600"/>
            <a:ext cx="3246120" cy="6400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850392" y="151790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formulation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50392" y="1883664"/>
            <a:ext cx="2916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an image x, predict a binary vector over K = 2,646 medical concepts. Multiple labels may be active for the same image.</a:t>
            </a:r>
            <a:endParaRPr lang="en-US" sz="1140" dirty="0"/>
          </a:p>
        </p:txBody>
      </p:sp>
      <p:sp>
        <p:nvSpPr>
          <p:cNvPr id="15" name="Shape 11"/>
          <p:cNvSpPr/>
          <p:nvPr/>
        </p:nvSpPr>
        <p:spPr>
          <a:xfrm>
            <a:off x="685800" y="2798064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85800" y="2798064"/>
            <a:ext cx="3246120" cy="64008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850392" y="2944368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not single-label?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50392" y="3310128"/>
            <a:ext cx="2916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Radiology images commonly contain several co-occurring concepts, so softmax-style exclusive classification is not suitable.</a:t>
            </a:r>
            <a:endParaRPr lang="en-US" sz="1140" dirty="0"/>
          </a:p>
        </p:txBody>
      </p:sp>
      <p:sp>
        <p:nvSpPr>
          <p:cNvPr id="19" name="Shape 15"/>
          <p:cNvSpPr/>
          <p:nvPr/>
        </p:nvSpPr>
        <p:spPr>
          <a:xfrm>
            <a:off x="685800" y="4224528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685800" y="4224528"/>
            <a:ext cx="3246120" cy="64008"/>
          </a:xfrm>
          <a:prstGeom prst="rect">
            <a:avLst/>
          </a:prstGeom>
          <a:solidFill>
            <a:srgbClr val="E6A700"/>
          </a:solidFill>
          <a:ln w="12700">
            <a:solidFill>
              <a:srgbClr val="E6A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850392" y="437083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thresholding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50392" y="4736592"/>
            <a:ext cx="2916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probabilities must be converted into binary concepts; threshold choice controls precision, recall, and coverage.</a:t>
            </a:r>
            <a:endParaRPr lang="en-US" sz="1140" dirty="0"/>
          </a:p>
        </p:txBody>
      </p:sp>
      <p:sp>
        <p:nvSpPr>
          <p:cNvPr id="23" name="Shape 19"/>
          <p:cNvSpPr/>
          <p:nvPr/>
        </p:nvSpPr>
        <p:spPr>
          <a:xfrm>
            <a:off x="4572000" y="1298448"/>
            <a:ext cx="62636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4892040" y="16093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focus</a:t>
            </a:r>
            <a:endParaRPr lang="en-US" sz="1900" dirty="0"/>
          </a:p>
        </p:txBody>
      </p:sp>
      <p:sp>
        <p:nvSpPr>
          <p:cNvPr id="25" name="Shape 21"/>
          <p:cNvSpPr/>
          <p:nvPr/>
        </p:nvSpPr>
        <p:spPr>
          <a:xfrm>
            <a:off x="4956048" y="2194560"/>
            <a:ext cx="219456" cy="219456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5321808" y="2157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Micro-F1</a:t>
            </a:r>
            <a:endParaRPr lang="en-US" sz="1320" dirty="0"/>
          </a:p>
        </p:txBody>
      </p:sp>
      <p:sp>
        <p:nvSpPr>
          <p:cNvPr id="27" name="Text 23"/>
          <p:cNvSpPr/>
          <p:nvPr/>
        </p:nvSpPr>
        <p:spPr>
          <a:xfrm>
            <a:off x="7205472" y="21579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global score</a:t>
            </a:r>
            <a:endParaRPr lang="en-US" sz="1220" dirty="0"/>
          </a:p>
        </p:txBody>
      </p:sp>
      <p:sp>
        <p:nvSpPr>
          <p:cNvPr id="28" name="Shape 24"/>
          <p:cNvSpPr/>
          <p:nvPr/>
        </p:nvSpPr>
        <p:spPr>
          <a:xfrm>
            <a:off x="4956048" y="2852928"/>
            <a:ext cx="219456" cy="219456"/>
          </a:xfrm>
          <a:prstGeom prst="ellipse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5321808" y="2816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/ Recall</a:t>
            </a:r>
            <a:endParaRPr lang="en-US" sz="1320" dirty="0"/>
          </a:p>
        </p:txBody>
      </p:sp>
      <p:sp>
        <p:nvSpPr>
          <p:cNvPr id="30" name="Text 26"/>
          <p:cNvSpPr/>
          <p:nvPr/>
        </p:nvSpPr>
        <p:spPr>
          <a:xfrm>
            <a:off x="7205472" y="28163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 vs. completeness</a:t>
            </a:r>
            <a:endParaRPr lang="en-US" sz="1220" dirty="0"/>
          </a:p>
        </p:txBody>
      </p:sp>
      <p:sp>
        <p:nvSpPr>
          <p:cNvPr id="31" name="Shape 27"/>
          <p:cNvSpPr/>
          <p:nvPr/>
        </p:nvSpPr>
        <p:spPr>
          <a:xfrm>
            <a:off x="4956048" y="3511296"/>
            <a:ext cx="219456" cy="219456"/>
          </a:xfrm>
          <a:prstGeom prst="ellipse">
            <a:avLst/>
          </a:prstGeom>
          <a:solidFill>
            <a:srgbClr val="E6A700"/>
          </a:solidFill>
          <a:ln w="12700">
            <a:solidFill>
              <a:srgbClr val="E6A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321808" y="34747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/ macro_nz</a:t>
            </a:r>
            <a:endParaRPr lang="en-US" sz="1320" dirty="0"/>
          </a:p>
        </p:txBody>
      </p:sp>
      <p:sp>
        <p:nvSpPr>
          <p:cNvPr id="33" name="Text 29"/>
          <p:cNvSpPr/>
          <p:nvPr/>
        </p:nvSpPr>
        <p:spPr>
          <a:xfrm>
            <a:off x="7205472" y="3474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to rare concepts</a:t>
            </a:r>
            <a:endParaRPr lang="en-US" sz="1220" dirty="0"/>
          </a:p>
        </p:txBody>
      </p:sp>
      <p:sp>
        <p:nvSpPr>
          <p:cNvPr id="34" name="Shape 30"/>
          <p:cNvSpPr/>
          <p:nvPr/>
        </p:nvSpPr>
        <p:spPr>
          <a:xfrm>
            <a:off x="4956048" y="4169664"/>
            <a:ext cx="219456" cy="219456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1"/>
          <p:cNvSpPr/>
          <p:nvPr/>
        </p:nvSpPr>
        <p:spPr>
          <a:xfrm>
            <a:off x="5321808" y="4133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</a:t>
            </a:r>
            <a:endParaRPr lang="en-US" sz="1320" dirty="0"/>
          </a:p>
        </p:txBody>
      </p:sp>
      <p:sp>
        <p:nvSpPr>
          <p:cNvPr id="36" name="Text 32"/>
          <p:cNvSpPr/>
          <p:nvPr/>
        </p:nvSpPr>
        <p:spPr>
          <a:xfrm>
            <a:off x="7205472" y="41330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concepts are predicted at least once</a:t>
            </a:r>
            <a:endParaRPr lang="en-US" sz="1220" dirty="0"/>
          </a:p>
        </p:txBody>
      </p:sp>
      <p:sp>
        <p:nvSpPr>
          <p:cNvPr id="37" name="Text 33"/>
          <p:cNvSpPr/>
          <p:nvPr/>
        </p:nvSpPr>
        <p:spPr>
          <a:xfrm>
            <a:off x="4892040" y="499262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system selection balanced official Micro-F1 with additional analysis of long-tail behavior.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C3756"/>
                </a:solidFill>
              </a:rPr>
              <a:t>3) Dataset Characteristics: Large, Sparse, and Long-Tailed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dataset statistics explain why imbalance-aware design was necessary.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125F68"/>
                </a:solidFill>
              </a:rPr>
              <a:t>5/17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• Concept Detection</a:t>
            </a:r>
            <a:endParaRPr lang="en-US" sz="800" dirty="0"/>
          </a:p>
        </p:txBody>
      </p:sp>
      <p:pic>
        <p:nvPicPr>
          <p:cNvPr id="9" name="Image 0" descr="/mnt/data/pptx_unzip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37744"/>
            <a:ext cx="731520" cy="502920"/>
          </a:xfrm>
          <a:prstGeom prst="rect">
            <a:avLst/>
          </a:prstGeom>
        </p:spPr>
      </p:pic>
      <p:pic>
        <p:nvPicPr>
          <p:cNvPr id="10" name="Image 1" descr="/mnt/data/pptx_unzip/ppt/media/image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18077"/>
            <a:ext cx="868680" cy="51482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1298448"/>
            <a:ext cx="21488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640080" y="1298448"/>
            <a:ext cx="82296" cy="969264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804672" y="14264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8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116,604</a:t>
            </a:r>
            <a:endParaRPr lang="en-US" sz="2500" dirty="0"/>
          </a:p>
        </p:txBody>
      </p:sp>
      <p:sp>
        <p:nvSpPr>
          <p:cNvPr id="14" name="Text 10"/>
          <p:cNvSpPr/>
          <p:nvPr/>
        </p:nvSpPr>
        <p:spPr>
          <a:xfrm>
            <a:off x="804672" y="181051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radiology images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971800" y="1298448"/>
            <a:ext cx="2057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2971800" y="1298448"/>
            <a:ext cx="82296" cy="969264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3136392" y="14264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D4E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2,646</a:t>
            </a:r>
            <a:endParaRPr lang="en-US" sz="2500" dirty="0"/>
          </a:p>
        </p:txBody>
      </p:sp>
      <p:sp>
        <p:nvSpPr>
          <p:cNvPr id="18" name="Text 14"/>
          <p:cNvSpPr/>
          <p:nvPr/>
        </p:nvSpPr>
        <p:spPr>
          <a:xfrm>
            <a:off x="3136392" y="18105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UMLS concepts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212080" y="1298448"/>
            <a:ext cx="2057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5212080" y="1298448"/>
            <a:ext cx="82296" cy="969264"/>
          </a:xfrm>
          <a:prstGeom prst="rect">
            <a:avLst/>
          </a:prstGeom>
          <a:solidFill>
            <a:srgbClr val="E6A700"/>
          </a:solidFill>
          <a:ln w="12700">
            <a:solidFill>
              <a:srgbClr val="E6A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5376672" y="14264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6A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3.22</a:t>
            </a:r>
            <a:endParaRPr lang="en-US" sz="2500" dirty="0"/>
          </a:p>
        </p:txBody>
      </p:sp>
      <p:sp>
        <p:nvSpPr>
          <p:cNvPr id="22" name="Text 18"/>
          <p:cNvSpPr/>
          <p:nvPr/>
        </p:nvSpPr>
        <p:spPr>
          <a:xfrm>
            <a:off x="5376672" y="18105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labels / image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452360" y="1298448"/>
            <a:ext cx="16916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7452360" y="1298448"/>
            <a:ext cx="82296" cy="969264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7616952" y="14264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7C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500" dirty="0"/>
          </a:p>
        </p:txBody>
      </p:sp>
      <p:sp>
        <p:nvSpPr>
          <p:cNvPr id="26" name="Text 22"/>
          <p:cNvSpPr/>
          <p:nvPr/>
        </p:nvSpPr>
        <p:spPr>
          <a:xfrm>
            <a:off x="7616952" y="18105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empty-label images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9326880" y="1298448"/>
            <a:ext cx="219456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9326880" y="1298448"/>
            <a:ext cx="82296" cy="9692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9491472" y="14264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C81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83.2%</a:t>
            </a:r>
            <a:endParaRPr lang="en-US" sz="2500" dirty="0"/>
          </a:p>
        </p:txBody>
      </p:sp>
      <p:sp>
        <p:nvSpPr>
          <p:cNvPr id="30" name="Text 26"/>
          <p:cNvSpPr/>
          <p:nvPr/>
        </p:nvSpPr>
        <p:spPr>
          <a:xfrm>
            <a:off x="9491472" y="1810512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 concepts &lt;100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9491472" y="202996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2,202 concepts</a:t>
            </a:r>
            <a:endParaRPr lang="en-US" sz="850" dirty="0"/>
          </a:p>
        </p:txBody>
      </p:sp>
      <p:pic>
        <p:nvPicPr>
          <p:cNvPr id="32" name="Image 2" descr="/mnt/data/paper_src/figures/fig1_label_frequen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97" y="2743200"/>
            <a:ext cx="5041062" cy="3063240"/>
          </a:xfrm>
          <a:prstGeom prst="rect">
            <a:avLst/>
          </a:prstGeom>
        </p:spPr>
      </p:pic>
      <p:pic>
        <p:nvPicPr>
          <p:cNvPr id="33" name="Image 3" descr="/mnt/data/paper_src/figures/fig2_label_cardina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788477"/>
            <a:ext cx="4892040" cy="2972686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777240" y="5870448"/>
            <a:ext cx="10469880" cy="365760"/>
          </a:xfrm>
          <a:prstGeom prst="roundRect">
            <a:avLst>
              <a:gd name="adj" fmla="val 15000"/>
            </a:avLst>
          </a:prstGeom>
          <a:solidFill>
            <a:srgbClr val="E9F3F8"/>
          </a:solidFill>
          <a:ln w="12700">
            <a:solidFill>
              <a:srgbClr val="D3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9"/>
          <p:cNvSpPr/>
          <p:nvPr/>
        </p:nvSpPr>
        <p:spPr>
          <a:xfrm>
            <a:off x="960120" y="5971032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implication: the model needs both rare-label learning support and calibrated inference, not only a stronger visual backbone.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39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20040"/>
            <a:ext cx="88696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7" y="758952"/>
            <a:ext cx="8961120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09960" cy="6350"/>
          </a:xfrm>
          <a:prstGeom prst="rect">
            <a:avLst/>
          </a:prstGeom>
          <a:solidFill>
            <a:srgbClr val="D2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25F68"/>
                </a:solidFill>
              </a:rPr>
              <a:t>6/17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40" b="0">
                <a:solidFill>
                  <a:srgbClr val="5C6974"/>
                </a:solidFill>
              </a:rPr>
              <a:t>Hybrid Vision–Language Approach • Concept Detection</a:t>
            </a:r>
          </a:p>
        </p:txBody>
      </p:sp>
      <p:pic>
        <p:nvPicPr>
          <p:cNvPr id="9" name="Picture 8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37744"/>
            <a:ext cx="731520" cy="5029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19456"/>
            <a:ext cx="868680" cy="51206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21207" y="1078992"/>
            <a:ext cx="2418588" cy="5669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6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59" y="1152144"/>
            <a:ext cx="2272284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1B3A5C"/>
                </a:solidFill>
                <a:latin typeface="Aptos"/>
              </a:rPr>
              <a:t>Medical imaging benchmarks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" y="1353312"/>
            <a:ext cx="2272284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80" b="0">
                <a:solidFill>
                  <a:srgbClr val="54626F"/>
                </a:solidFill>
                <a:latin typeface="Aptos"/>
              </a:rPr>
              <a:t>ChestX-ray8, CheXpert, PadChest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7812" y="1078992"/>
            <a:ext cx="2418588" cy="566928"/>
          </a:xfrm>
          <a:prstGeom prst="roundRect">
            <a:avLst/>
          </a:prstGeom>
          <a:solidFill>
            <a:srgbClr val="E5F5F5"/>
          </a:solidFill>
          <a:ln w="11430">
            <a:solidFill>
              <a:srgbClr val="007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40964" y="1152144"/>
            <a:ext cx="2272284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1B3A5C"/>
                </a:solidFill>
                <a:latin typeface="Aptos"/>
              </a:rPr>
              <a:t>ImageCLEF concept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0964" y="1353312"/>
            <a:ext cx="2272284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80" b="0">
                <a:solidFill>
                  <a:srgbClr val="54626F"/>
                </a:solidFill>
                <a:latin typeface="Aptos"/>
              </a:rPr>
              <a:t>2024–2026 caption/concept tasks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14416" y="1078992"/>
            <a:ext cx="2418588" cy="5669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6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87568" y="1152144"/>
            <a:ext cx="2272284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1B3A5C"/>
                </a:solidFill>
                <a:latin typeface="Aptos"/>
              </a:rPr>
              <a:t>Vision backbones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1353312"/>
            <a:ext cx="2272284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80" b="0">
                <a:solidFill>
                  <a:srgbClr val="54626F"/>
                </a:solidFill>
                <a:latin typeface="Aptos"/>
              </a:rPr>
              <a:t>DenseNet → Swin Transformer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1020" y="1078992"/>
            <a:ext cx="2418588" cy="566928"/>
          </a:xfrm>
          <a:prstGeom prst="roundRect">
            <a:avLst/>
          </a:prstGeom>
          <a:solidFill>
            <a:srgbClr val="E5F5F5"/>
          </a:solidFill>
          <a:ln w="11430">
            <a:solidFill>
              <a:srgbClr val="007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34172" y="1152144"/>
            <a:ext cx="2272284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1B3A5C"/>
                </a:solidFill>
                <a:latin typeface="Aptos"/>
              </a:rPr>
              <a:t>Long-tail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4172" y="1353312"/>
            <a:ext cx="2272284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80" b="0">
                <a:solidFill>
                  <a:srgbClr val="54626F"/>
                </a:solidFill>
                <a:latin typeface="Aptos"/>
              </a:rPr>
              <a:t>Focal, CB Loss, ASL, logit adjustment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98455"/>
              </p:ext>
            </p:extLst>
          </p:nvPr>
        </p:nvGraphicFramePr>
        <p:xfrm>
          <a:off x="521208" y="1847087"/>
          <a:ext cx="10955684" cy="3779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5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1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545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Reference area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Representative work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Core contribution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Aptos"/>
                        </a:rPr>
                        <a:t>Remaining gap / how we respond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Medical image benchmarks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ChestX-ray8; CheXpert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Large-scale multi-label radiology learning and uncertainty-aware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Mostly chest-focused label spaces; our task uses 2,646 UMLS concepts across modalities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CNN visual baselines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DenseNet / CheXNet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Strong reusable image features; reliable baseline for radiology classification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Limited explicit long-tail handling; we retain baseline lessons but move to Swin + frequency heads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Ontology-aligned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UMLS; PadChest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Standardized biomedical labels and clinically meaningful concept representation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Ontology resources motivate semantics, but do not solve the prediction imbalance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ImageCLEFmed tasks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ImageCLEFmedical 2024–2026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Concept prediction as a structured step toward caption generation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Full-vocabulary long-tail concept detection remains difficult and central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707A"/>
                          </a:solidFill>
                          <a:latin typeface="Aptos"/>
                        </a:rPr>
                        <a:t>Challenge-style CNN systems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707A"/>
                          </a:solidFill>
                          <a:latin typeface="Aptos"/>
                        </a:rPr>
                        <a:t>Santamato et al.; Sahni et al. (2025)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00707A"/>
                          </a:solidFill>
                          <a:latin typeface="Aptos"/>
                        </a:rPr>
                        <a:t>Transfer-learning/CNN baselines on </a:t>
                      </a:r>
                      <a:r>
                        <a:rPr sz="800" b="1" dirty="0" err="1">
                          <a:solidFill>
                            <a:srgbClr val="00707A"/>
                          </a:solidFill>
                          <a:latin typeface="Aptos"/>
                        </a:rPr>
                        <a:t>ImageCLEF</a:t>
                      </a:r>
                      <a:r>
                        <a:rPr sz="800" b="1" dirty="0">
                          <a:solidFill>
                            <a:srgbClr val="00707A"/>
                          </a:solidFill>
                          <a:latin typeface="Aptos"/>
                        </a:rPr>
                        <a:t>-style concept prediction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707A"/>
                          </a:solidFill>
                          <a:latin typeface="Aptos"/>
                        </a:rPr>
                        <a:t>Reported results are below our final validation/official scores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Vision transformers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Swin Transformer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Hierarchical shifted-window attention captures local and contextual image evidence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Backbone strength alone is insufficient without imbalance-aware output design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707A"/>
                          </a:solidFill>
                          <a:latin typeface="Aptos"/>
                        </a:rPr>
                        <a:t>Imbalance-aware losses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707A"/>
                          </a:solidFill>
                          <a:latin typeface="Aptos"/>
                        </a:rPr>
                        <a:t>Focal Loss; Class-Balanced Loss; ASL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707A"/>
                          </a:solidFill>
                          <a:latin typeface="Aptos"/>
                        </a:rPr>
                        <a:t>Reduce dominance of easy negatives and frequent labels in sparse multi-label learning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00707A"/>
                          </a:solidFill>
                          <a:latin typeface="Aptos"/>
                        </a:rPr>
                        <a:t>We combine ASL with sampling, frequency decomposition, and per-head thresholds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Long-tail recognition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Decoupled classifiers; logit adjustment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Show that representation and classifier behavior should be treated carefully under imbalance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232D37"/>
                          </a:solidFill>
                          <a:latin typeface="Aptos"/>
                        </a:rPr>
                        <a:t>We adapt this idea by decomposing the medical label space into frequency-aware heads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94360" y="5809957"/>
            <a:ext cx="10929426" cy="329184"/>
          </a:xfrm>
          <a:prstGeom prst="roundRect">
            <a:avLst/>
          </a:prstGeom>
          <a:solidFill>
            <a:srgbClr val="FFF8EE"/>
          </a:solidFill>
          <a:ln w="11430">
            <a:solidFill>
              <a:srgbClr val="EDB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1249680" y="5850382"/>
            <a:ext cx="96926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80" b="1" dirty="0">
                <a:solidFill>
                  <a:srgbClr val="D5691A"/>
                </a:solidFill>
                <a:latin typeface="Aptos"/>
              </a:rPr>
              <a:t>Positioning statement: our contribution is not only using a stronger backbone; it aligns representation learning, label-space structure, and threshold calibration with the long-tailed medical concept vocabulary.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47472"/>
            <a:ext cx="7498079" cy="329184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2500" b="1">
                <a:solidFill>
                  <a:srgbClr val="1B3A5C"/>
                </a:solidFill>
                <a:latin typeface="Aptos Display"/>
              </a:rPr>
              <a:t>4) Expanded Related Work Landscape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731520"/>
            <a:ext cx="9144000" cy="237744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400" b="0">
                <a:solidFill>
                  <a:srgbClr val="54626F"/>
                </a:solidFill>
                <a:latin typeface="Aptos Display"/>
              </a:rPr>
              <a:t>A broader literature view shows how our project combines medical concept detection, modern visual backbones, and long-tail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C3756"/>
                </a:solidFill>
              </a:rPr>
              <a:t>5) Experimental Evolution: A Progressive Research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system was reached through a sequence of validated modeling stages.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125F68"/>
                </a:solidFill>
              </a:rPr>
              <a:t>7/17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• Concept Detection</a:t>
            </a:r>
            <a:endParaRPr lang="en-US" sz="800" dirty="0"/>
          </a:p>
        </p:txBody>
      </p:sp>
      <p:pic>
        <p:nvPicPr>
          <p:cNvPr id="9" name="Image 0" descr="/mnt/data/pptx_unzip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37744"/>
            <a:ext cx="731520" cy="502920"/>
          </a:xfrm>
          <a:prstGeom prst="rect">
            <a:avLst/>
          </a:prstGeom>
        </p:spPr>
      </p:pic>
      <p:pic>
        <p:nvPicPr>
          <p:cNvPr id="10" name="Image 1" descr="/mnt/data/pptx_unzip/ppt/media/image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18077"/>
            <a:ext cx="868680" cy="51482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85800" y="1600200"/>
            <a:ext cx="2331720" cy="27889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685800" y="1600200"/>
            <a:ext cx="2331720" cy="109728"/>
          </a:xfrm>
          <a:prstGeom prst="rect">
            <a:avLst/>
          </a:prstGeom>
          <a:solidFill>
            <a:srgbClr val="596579"/>
          </a:solidFill>
          <a:ln w="12700">
            <a:solidFill>
              <a:srgbClr val="5965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868680" y="18288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68680" y="212140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DenseNet baseline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68680" y="278892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threshold and top-k calibration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68680" y="361188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5965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≈0.466</a:t>
            </a:r>
            <a:endParaRPr lang="en-US" sz="2300" dirty="0"/>
          </a:p>
        </p:txBody>
      </p:sp>
      <p:sp>
        <p:nvSpPr>
          <p:cNvPr id="17" name="Shape 13"/>
          <p:cNvSpPr/>
          <p:nvPr/>
        </p:nvSpPr>
        <p:spPr>
          <a:xfrm>
            <a:off x="3063240" y="2834640"/>
            <a:ext cx="256032" cy="310896"/>
          </a:xfrm>
          <a:prstGeom prst="chevron">
            <a:avLst/>
          </a:prstGeom>
          <a:solidFill>
            <a:srgbClr val="B7C8D5"/>
          </a:solidFill>
          <a:ln w="12700">
            <a:solidFill>
              <a:srgbClr val="B7C8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3520440" y="1600200"/>
            <a:ext cx="2331720" cy="27889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3520440" y="1600200"/>
            <a:ext cx="2331720" cy="109728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3703320" y="18288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703320" y="212140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DenseNetGraphHead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703320" y="278892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co-occurrence graph + ASL + EMA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703320" y="361188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4E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0.5372</a:t>
            </a:r>
            <a:endParaRPr lang="en-US" sz="2300" dirty="0"/>
          </a:p>
        </p:txBody>
      </p:sp>
      <p:sp>
        <p:nvSpPr>
          <p:cNvPr id="24" name="Shape 20"/>
          <p:cNvSpPr/>
          <p:nvPr/>
        </p:nvSpPr>
        <p:spPr>
          <a:xfrm>
            <a:off x="5897880" y="2834640"/>
            <a:ext cx="256032" cy="310896"/>
          </a:xfrm>
          <a:prstGeom prst="chevron">
            <a:avLst/>
          </a:prstGeom>
          <a:solidFill>
            <a:srgbClr val="B7C8D5"/>
          </a:solidFill>
          <a:ln w="12700">
            <a:solidFill>
              <a:srgbClr val="B7C8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1"/>
          <p:cNvSpPr/>
          <p:nvPr/>
        </p:nvSpPr>
        <p:spPr>
          <a:xfrm>
            <a:off x="6355080" y="1600200"/>
            <a:ext cx="2331720" cy="27889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2"/>
          <p:cNvSpPr/>
          <p:nvPr/>
        </p:nvSpPr>
        <p:spPr>
          <a:xfrm>
            <a:off x="6355080" y="1600200"/>
            <a:ext cx="2331720" cy="109728"/>
          </a:xfrm>
          <a:prstGeom prst="rect">
            <a:avLst/>
          </a:prstGeom>
          <a:solidFill>
            <a:srgbClr val="E6A700"/>
          </a:solidFill>
          <a:ln w="12700">
            <a:solidFill>
              <a:srgbClr val="E6A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6537960" y="18288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A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537960" y="212140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SwinGraphHead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537960" y="278892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backbone and rare/common split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537960" y="361188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E6A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0.5405–0.5426</a:t>
            </a:r>
            <a:endParaRPr lang="en-US" sz="2300" dirty="0"/>
          </a:p>
        </p:txBody>
      </p:sp>
      <p:sp>
        <p:nvSpPr>
          <p:cNvPr id="31" name="Shape 27"/>
          <p:cNvSpPr/>
          <p:nvPr/>
        </p:nvSpPr>
        <p:spPr>
          <a:xfrm>
            <a:off x="8732520" y="2834640"/>
            <a:ext cx="256032" cy="310896"/>
          </a:xfrm>
          <a:prstGeom prst="chevron">
            <a:avLst/>
          </a:prstGeom>
          <a:solidFill>
            <a:srgbClr val="B7C8D5"/>
          </a:solidFill>
          <a:ln w="12700">
            <a:solidFill>
              <a:srgbClr val="B7C8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8"/>
          <p:cNvSpPr/>
          <p:nvPr/>
        </p:nvSpPr>
        <p:spPr>
          <a:xfrm>
            <a:off x="9189720" y="1600200"/>
            <a:ext cx="2331720" cy="27889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29"/>
          <p:cNvSpPr/>
          <p:nvPr/>
        </p:nvSpPr>
        <p:spPr>
          <a:xfrm>
            <a:off x="9189720" y="1600200"/>
            <a:ext cx="2331720" cy="10972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0"/>
          <p:cNvSpPr/>
          <p:nvPr/>
        </p:nvSpPr>
        <p:spPr>
          <a:xfrm>
            <a:off x="9372600" y="18288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4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9372600" y="212140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SwinMultiHead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9372600" y="278892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Frequency-aware heads + per-head thresholds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9372600" y="361188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8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0.5441</a:t>
            </a:r>
            <a:endParaRPr lang="en-US" sz="2300" dirty="0"/>
          </a:p>
        </p:txBody>
      </p:sp>
      <p:sp>
        <p:nvSpPr>
          <p:cNvPr id="38" name="Text 34"/>
          <p:cNvSpPr/>
          <p:nvPr/>
        </p:nvSpPr>
        <p:spPr>
          <a:xfrm>
            <a:off x="749808" y="500176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logic: each stage answered a specific question before moving to the next design choice.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749808" y="5276087"/>
            <a:ext cx="104241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can change behavior without retraining.</a:t>
            </a:r>
            <a:endParaRPr lang="en-US" sz="125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relationships and frequency structure both matter.</a:t>
            </a:r>
            <a:endParaRPr lang="en-US" sz="125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approach combines representation strength with label-space decomposition.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C3756"/>
                </a:solidFill>
              </a:rPr>
              <a:t>6) Lessons from Early Models: Calibration Was Not Optional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baseline stages clarified why thresholding and label structure became central to the final model.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125F68"/>
                </a:solidFill>
              </a:rPr>
              <a:t>8/17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• Concept Detection</a:t>
            </a:r>
            <a:endParaRPr lang="en-US" sz="800" dirty="0"/>
          </a:p>
        </p:txBody>
      </p:sp>
      <p:pic>
        <p:nvPicPr>
          <p:cNvPr id="9" name="Image 0" descr="/mnt/data/pptx_unzip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37744"/>
            <a:ext cx="731520" cy="502920"/>
          </a:xfrm>
          <a:prstGeom prst="rect">
            <a:avLst/>
          </a:prstGeom>
        </p:spPr>
      </p:pic>
      <p:pic>
        <p:nvPicPr>
          <p:cNvPr id="10" name="Image 1" descr="/mnt/data/pptx_unzip/ppt/media/image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18077"/>
            <a:ext cx="868680" cy="51482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1520" y="13258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731520" y="1325880"/>
            <a:ext cx="3246120" cy="64008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896112" y="147218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DenseNet baseline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96112" y="1837944"/>
            <a:ext cx="291693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Provided a strong starting point but still favored frequent concepts under a single global decision strategy.</a:t>
            </a:r>
            <a:endParaRPr lang="en-US" sz="1140" dirty="0"/>
          </a:p>
        </p:txBody>
      </p:sp>
      <p:sp>
        <p:nvSpPr>
          <p:cNvPr id="15" name="Shape 11"/>
          <p:cNvSpPr/>
          <p:nvPr/>
        </p:nvSpPr>
        <p:spPr>
          <a:xfrm>
            <a:off x="731520" y="30632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731520" y="3063240"/>
            <a:ext cx="3246120" cy="64008"/>
          </a:xfrm>
          <a:prstGeom prst="rect">
            <a:avLst/>
          </a:prstGeom>
          <a:solidFill>
            <a:srgbClr val="E6A700"/>
          </a:solidFill>
          <a:ln w="12700">
            <a:solidFill>
              <a:srgbClr val="E6A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896112" y="320954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Threshold search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96112" y="3575304"/>
            <a:ext cx="291693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Micro-F1, top-k, and hybrid rules demonstrated that predicted label cardinality strongly affects performance.</a:t>
            </a:r>
            <a:endParaRPr lang="en-US" sz="1140" dirty="0"/>
          </a:p>
        </p:txBody>
      </p:sp>
      <p:sp>
        <p:nvSpPr>
          <p:cNvPr id="19" name="Shape 15"/>
          <p:cNvSpPr/>
          <p:nvPr/>
        </p:nvSpPr>
        <p:spPr>
          <a:xfrm>
            <a:off x="731520" y="48006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731520" y="4800600"/>
            <a:ext cx="3246120" cy="6400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896112" y="494690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GraphHead insight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96112" y="5312664"/>
            <a:ext cx="291693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label relations improved validation performance and motivated structured output design.</a:t>
            </a:r>
            <a:endParaRPr lang="en-US" sz="1140" dirty="0"/>
          </a:p>
        </p:txBody>
      </p:sp>
      <p:sp>
        <p:nvSpPr>
          <p:cNvPr id="23" name="Shape 19"/>
          <p:cNvSpPr/>
          <p:nvPr/>
        </p:nvSpPr>
        <p:spPr>
          <a:xfrm>
            <a:off x="4343400" y="1397836"/>
            <a:ext cx="6629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4572000" y="1581912"/>
            <a:ext cx="6172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Micro-F1 Progress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4663440" y="5056632"/>
            <a:ext cx="612648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2"/>
          <p:cNvSpPr/>
          <p:nvPr/>
        </p:nvSpPr>
        <p:spPr>
          <a:xfrm>
            <a:off x="4663440" y="4210812"/>
            <a:ext cx="612648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4663440" y="3364992"/>
            <a:ext cx="612648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4663440" y="2519172"/>
            <a:ext cx="612648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5"/>
          <p:cNvSpPr/>
          <p:nvPr/>
        </p:nvSpPr>
        <p:spPr>
          <a:xfrm>
            <a:off x="4663440" y="1673352"/>
            <a:ext cx="612648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6"/>
          <p:cNvSpPr/>
          <p:nvPr/>
        </p:nvSpPr>
        <p:spPr>
          <a:xfrm>
            <a:off x="4954448" y="4119724"/>
            <a:ext cx="949604" cy="93690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7"/>
          <p:cNvSpPr/>
          <p:nvPr/>
        </p:nvSpPr>
        <p:spPr>
          <a:xfrm>
            <a:off x="4863008" y="3863692"/>
            <a:ext cx="1132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0.4660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4753280" y="5166360"/>
            <a:ext cx="1351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DenseNet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6486068" y="2266727"/>
            <a:ext cx="949604" cy="2789905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0"/>
          <p:cNvSpPr/>
          <p:nvPr/>
        </p:nvSpPr>
        <p:spPr>
          <a:xfrm>
            <a:off x="6394628" y="2010695"/>
            <a:ext cx="1132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0.5372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6284900" y="5166360"/>
            <a:ext cx="1351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DenseNet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GraphHead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8017688" y="2180844"/>
            <a:ext cx="949604" cy="287578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3"/>
          <p:cNvSpPr/>
          <p:nvPr/>
        </p:nvSpPr>
        <p:spPr>
          <a:xfrm>
            <a:off x="7926248" y="1924812"/>
            <a:ext cx="1132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0.5405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7816520" y="5166360"/>
            <a:ext cx="1351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SwinMultiHead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coverage-opt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9549308" y="2087153"/>
            <a:ext cx="949604" cy="2969479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9457868" y="1831121"/>
            <a:ext cx="1132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0.5441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9348140" y="5166360"/>
            <a:ext cx="1351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SwinMultiHead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micro-opt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 rot="16200000">
            <a:off x="4361688" y="34335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Micro-F1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4572000" y="57790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Structural changes raised validation Micro-F1 from ≈0.466 to 0.5441.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C3756"/>
                </a:solidFill>
              </a:rPr>
              <a:t>7) Final System: Frequency-Aware Swin Multi-Head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architecture aligns the classifier structure with the observed label-frequency distribution.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125F68"/>
                </a:solidFill>
              </a:rPr>
              <a:t>9/17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• Concept Detection</a:t>
            </a:r>
            <a:endParaRPr lang="en-US" sz="800" dirty="0"/>
          </a:p>
        </p:txBody>
      </p:sp>
      <p:pic>
        <p:nvPicPr>
          <p:cNvPr id="9" name="Image 0" descr="/mnt/data/pptx_unzip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37744"/>
            <a:ext cx="731520" cy="502920"/>
          </a:xfrm>
          <a:prstGeom prst="rect">
            <a:avLst/>
          </a:prstGeom>
        </p:spPr>
      </p:pic>
      <p:pic>
        <p:nvPicPr>
          <p:cNvPr id="10" name="Image 1" descr="/mnt/data/pptx_unzip/ppt/media/image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18077"/>
            <a:ext cx="868680" cy="514823"/>
          </a:xfrm>
          <a:prstGeom prst="rect">
            <a:avLst/>
          </a:prstGeom>
        </p:spPr>
      </p:pic>
      <p:pic>
        <p:nvPicPr>
          <p:cNvPr id="11" name="Image 2" descr="/mnt/data/paper_src/figures/fig3_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268730"/>
            <a:ext cx="6400800" cy="454685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360920" y="1261872"/>
            <a:ext cx="4069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8"/>
          <p:cNvSpPr/>
          <p:nvPr/>
        </p:nvSpPr>
        <p:spPr>
          <a:xfrm>
            <a:off x="7360920" y="1261872"/>
            <a:ext cx="4069080" cy="64008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7525512" y="1408176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visual encoder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525512" y="1773936"/>
            <a:ext cx="3739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Swin Base Patch4 Window7 224 extracts hierarchical visual features from each radiology image.</a:t>
            </a:r>
            <a:endParaRPr lang="en-US" sz="1140" dirty="0"/>
          </a:p>
        </p:txBody>
      </p:sp>
      <p:sp>
        <p:nvSpPr>
          <p:cNvPr id="16" name="Shape 11"/>
          <p:cNvSpPr/>
          <p:nvPr/>
        </p:nvSpPr>
        <p:spPr>
          <a:xfrm>
            <a:off x="7360920" y="2450592"/>
            <a:ext cx="4069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7360920" y="2450592"/>
            <a:ext cx="4069080" cy="6400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7525512" y="2596896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Compact embedding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525512" y="2962656"/>
            <a:ext cx="3739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projection layer maps visual features into a 256-dimensional shared representation.</a:t>
            </a:r>
            <a:endParaRPr lang="en-US" sz="1140" dirty="0"/>
          </a:p>
        </p:txBody>
      </p:sp>
      <p:sp>
        <p:nvSpPr>
          <p:cNvPr id="20" name="Shape 15"/>
          <p:cNvSpPr/>
          <p:nvPr/>
        </p:nvSpPr>
        <p:spPr>
          <a:xfrm>
            <a:off x="7360920" y="3639312"/>
            <a:ext cx="4069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7360920" y="3639312"/>
            <a:ext cx="4069080" cy="64008"/>
          </a:xfrm>
          <a:prstGeom prst="rect">
            <a:avLst/>
          </a:prstGeom>
          <a:solidFill>
            <a:srgbClr val="E6A700"/>
          </a:solidFill>
          <a:ln w="12700">
            <a:solidFill>
              <a:srgbClr val="E6A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7"/>
          <p:cNvSpPr/>
          <p:nvPr/>
        </p:nvSpPr>
        <p:spPr>
          <a:xfrm>
            <a:off x="7525512" y="3785616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specialized heads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525512" y="4151376"/>
            <a:ext cx="3739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Rare, low-mid, mid, and common concept groups are predicted with dedicated heads.</a:t>
            </a:r>
            <a:endParaRPr lang="en-US" sz="1140" dirty="0"/>
          </a:p>
        </p:txBody>
      </p:sp>
      <p:sp>
        <p:nvSpPr>
          <p:cNvPr id="24" name="Shape 19"/>
          <p:cNvSpPr/>
          <p:nvPr/>
        </p:nvSpPr>
        <p:spPr>
          <a:xfrm>
            <a:off x="7360920" y="4828032"/>
            <a:ext cx="4069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0"/>
          <p:cNvSpPr/>
          <p:nvPr/>
        </p:nvSpPr>
        <p:spPr>
          <a:xfrm>
            <a:off x="7360920" y="4828032"/>
            <a:ext cx="406908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1"/>
          <p:cNvSpPr/>
          <p:nvPr/>
        </p:nvSpPr>
        <p:spPr>
          <a:xfrm>
            <a:off x="7525512" y="4974336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Per-head thresholds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7525512" y="5340096"/>
            <a:ext cx="3739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group receives its own calibrated decision threshold for final CUI prediction.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C3756"/>
                </a:solidFill>
              </a:rPr>
              <a:t>8) Training and Calibration Protocol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Reproducibility comes from a fixed validation protocol and explicit operating-point analysis.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125F68"/>
                </a:solidFill>
              </a:rPr>
              <a:t>10/17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• Concept Detection</a:t>
            </a:r>
            <a:endParaRPr lang="en-US" sz="800" dirty="0"/>
          </a:p>
        </p:txBody>
      </p:sp>
      <p:pic>
        <p:nvPicPr>
          <p:cNvPr id="9" name="Image 0" descr="/mnt/data/pptx_unzip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37744"/>
            <a:ext cx="731520" cy="502920"/>
          </a:xfrm>
          <a:prstGeom prst="rect">
            <a:avLst/>
          </a:prstGeom>
        </p:spPr>
      </p:pic>
      <p:pic>
        <p:nvPicPr>
          <p:cNvPr id="10" name="Image 1" descr="/mnt/data/pptx_unzip/ppt/media/image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18077"/>
            <a:ext cx="868680" cy="51482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68680" y="1417320"/>
            <a:ext cx="4617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033272" y="15544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80" dirty="0"/>
          </a:p>
        </p:txBody>
      </p:sp>
      <p:sp>
        <p:nvSpPr>
          <p:cNvPr id="13" name="Text 9"/>
          <p:cNvSpPr/>
          <p:nvPr/>
        </p:nvSpPr>
        <p:spPr>
          <a:xfrm>
            <a:off x="2834640" y="151790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224 × 224</a:t>
            </a:r>
            <a:endParaRPr lang="en-US" sz="1320" dirty="0"/>
          </a:p>
        </p:txBody>
      </p:sp>
      <p:sp>
        <p:nvSpPr>
          <p:cNvPr id="14" name="Shape 10"/>
          <p:cNvSpPr/>
          <p:nvPr/>
        </p:nvSpPr>
        <p:spPr>
          <a:xfrm>
            <a:off x="868680" y="2203704"/>
            <a:ext cx="4617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1033272" y="234086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2834640" y="23042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3-fold multilabel stratified</a:t>
            </a:r>
            <a:endParaRPr lang="en-US" sz="1320" dirty="0"/>
          </a:p>
        </p:txBody>
      </p:sp>
      <p:sp>
        <p:nvSpPr>
          <p:cNvPr id="17" name="Shape 13"/>
          <p:cNvSpPr/>
          <p:nvPr/>
        </p:nvSpPr>
        <p:spPr>
          <a:xfrm>
            <a:off x="868680" y="2990088"/>
            <a:ext cx="4617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1033272" y="31272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Optimizer</a:t>
            </a:r>
            <a:endParaRPr lang="en-US" sz="1080" dirty="0"/>
          </a:p>
        </p:txBody>
      </p:sp>
      <p:sp>
        <p:nvSpPr>
          <p:cNvPr id="19" name="Text 15"/>
          <p:cNvSpPr/>
          <p:nvPr/>
        </p:nvSpPr>
        <p:spPr>
          <a:xfrm>
            <a:off x="2834640" y="30906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AdamW</a:t>
            </a:r>
            <a:endParaRPr lang="en-US" sz="1320" dirty="0"/>
          </a:p>
        </p:txBody>
      </p:sp>
      <p:sp>
        <p:nvSpPr>
          <p:cNvPr id="20" name="Shape 16"/>
          <p:cNvSpPr/>
          <p:nvPr/>
        </p:nvSpPr>
        <p:spPr>
          <a:xfrm>
            <a:off x="868680" y="3776472"/>
            <a:ext cx="4617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1033272" y="39136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 / Backbone LR</a:t>
            </a:r>
            <a:endParaRPr lang="en-US" sz="1080" dirty="0"/>
          </a:p>
        </p:txBody>
      </p:sp>
      <p:sp>
        <p:nvSpPr>
          <p:cNvPr id="22" name="Text 18"/>
          <p:cNvSpPr/>
          <p:nvPr/>
        </p:nvSpPr>
        <p:spPr>
          <a:xfrm>
            <a:off x="2834640" y="387705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1e-4 / 2e-5</a:t>
            </a:r>
            <a:endParaRPr lang="en-US" sz="1320" dirty="0"/>
          </a:p>
        </p:txBody>
      </p:sp>
      <p:sp>
        <p:nvSpPr>
          <p:cNvPr id="23" name="Shape 19"/>
          <p:cNvSpPr/>
          <p:nvPr/>
        </p:nvSpPr>
        <p:spPr>
          <a:xfrm>
            <a:off x="6172200" y="1417320"/>
            <a:ext cx="4617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336792" y="15544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Epochs</a:t>
            </a:r>
            <a:endParaRPr lang="en-US" sz="1080" dirty="0"/>
          </a:p>
        </p:txBody>
      </p:sp>
      <p:sp>
        <p:nvSpPr>
          <p:cNvPr id="25" name="Text 21"/>
          <p:cNvSpPr/>
          <p:nvPr/>
        </p:nvSpPr>
        <p:spPr>
          <a:xfrm>
            <a:off x="8138160" y="151790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25; min 12; patience 6</a:t>
            </a:r>
            <a:endParaRPr lang="en-US" sz="1320" dirty="0"/>
          </a:p>
        </p:txBody>
      </p:sp>
      <p:sp>
        <p:nvSpPr>
          <p:cNvPr id="26" name="Shape 22"/>
          <p:cNvSpPr/>
          <p:nvPr/>
        </p:nvSpPr>
        <p:spPr>
          <a:xfrm>
            <a:off x="6172200" y="2203704"/>
            <a:ext cx="4617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6336792" y="234086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Batching</a:t>
            </a:r>
            <a:endParaRPr lang="en-US" sz="1080" dirty="0"/>
          </a:p>
        </p:txBody>
      </p:sp>
      <p:sp>
        <p:nvSpPr>
          <p:cNvPr id="28" name="Text 24"/>
          <p:cNvSpPr/>
          <p:nvPr/>
        </p:nvSpPr>
        <p:spPr>
          <a:xfrm>
            <a:off x="8138160" y="23042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 × grad accum 2 = 64</a:t>
            </a:r>
            <a:endParaRPr lang="en-US" sz="1320" dirty="0"/>
          </a:p>
        </p:txBody>
      </p:sp>
      <p:sp>
        <p:nvSpPr>
          <p:cNvPr id="29" name="Shape 25"/>
          <p:cNvSpPr/>
          <p:nvPr/>
        </p:nvSpPr>
        <p:spPr>
          <a:xfrm>
            <a:off x="6172200" y="2990088"/>
            <a:ext cx="4617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6"/>
          <p:cNvSpPr/>
          <p:nvPr/>
        </p:nvSpPr>
        <p:spPr>
          <a:xfrm>
            <a:off x="6336792" y="31272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Stabilization</a:t>
            </a:r>
            <a:endParaRPr lang="en-US" sz="1080" dirty="0"/>
          </a:p>
        </p:txBody>
      </p:sp>
      <p:sp>
        <p:nvSpPr>
          <p:cNvPr id="31" name="Text 27"/>
          <p:cNvSpPr/>
          <p:nvPr/>
        </p:nvSpPr>
        <p:spPr>
          <a:xfrm>
            <a:off x="8138160" y="30906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Mixed precision + EMA 0.999</a:t>
            </a:r>
            <a:endParaRPr lang="en-US" sz="1320" dirty="0"/>
          </a:p>
        </p:txBody>
      </p:sp>
      <p:sp>
        <p:nvSpPr>
          <p:cNvPr id="32" name="Shape 28"/>
          <p:cNvSpPr/>
          <p:nvPr/>
        </p:nvSpPr>
        <p:spPr>
          <a:xfrm>
            <a:off x="6172200" y="3776472"/>
            <a:ext cx="4617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9"/>
          <p:cNvSpPr/>
          <p:nvPr/>
        </p:nvSpPr>
        <p:spPr>
          <a:xfrm>
            <a:off x="6336792" y="39136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</a:t>
            </a:r>
            <a:endParaRPr lang="en-US" sz="1080" dirty="0"/>
          </a:p>
        </p:txBody>
      </p:sp>
      <p:sp>
        <p:nvSpPr>
          <p:cNvPr id="34" name="Text 30"/>
          <p:cNvSpPr/>
          <p:nvPr/>
        </p:nvSpPr>
        <p:spPr>
          <a:xfrm>
            <a:off x="8138160" y="387705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ASL + frequency-group weights</a:t>
            </a:r>
            <a:endParaRPr lang="en-US" sz="1320" dirty="0"/>
          </a:p>
        </p:txBody>
      </p:sp>
      <p:sp>
        <p:nvSpPr>
          <p:cNvPr id="35" name="Shape 31"/>
          <p:cNvSpPr/>
          <p:nvPr/>
        </p:nvSpPr>
        <p:spPr>
          <a:xfrm>
            <a:off x="1143000" y="4892040"/>
            <a:ext cx="9921240" cy="786384"/>
          </a:xfrm>
          <a:prstGeom prst="roundRect">
            <a:avLst>
              <a:gd name="adj" fmla="val 6977"/>
            </a:avLst>
          </a:prstGeom>
          <a:solidFill>
            <a:srgbClr val="EAF6F8"/>
          </a:solidFill>
          <a:ln w="12700">
            <a:solidFill>
              <a:srgbClr val="C9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1325880" y="5175504"/>
            <a:ext cx="946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folds → cached validation probabilities → per-head threshold sweep → micro-opt &amp; coverage-opt operating points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1463040" y="5806440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prediction rule is calibrated after validation inference; it is not an arbitrary default threshold.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C3756"/>
                </a:solidFill>
              </a:rPr>
              <a:t>9) Internal Validation: Two Operating Points, One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model supports both score-oriented and coverage-oriented configurations.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125F68"/>
                </a:solidFill>
              </a:rPr>
              <a:t>11/17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• Concept Detection</a:t>
            </a:r>
            <a:endParaRPr lang="en-US" sz="800" dirty="0"/>
          </a:p>
        </p:txBody>
      </p:sp>
      <p:pic>
        <p:nvPicPr>
          <p:cNvPr id="9" name="Image 0" descr="/mnt/data/pptx_unzip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37744"/>
            <a:ext cx="731520" cy="502920"/>
          </a:xfrm>
          <a:prstGeom prst="rect">
            <a:avLst/>
          </a:prstGeom>
        </p:spPr>
      </p:pic>
      <p:pic>
        <p:nvPicPr>
          <p:cNvPr id="10" name="Image 1" descr="/mnt/data/pptx_unzip/ppt/media/image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18077"/>
            <a:ext cx="868680" cy="51482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7240" y="1325880"/>
            <a:ext cx="292608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777240" y="1325880"/>
            <a:ext cx="82296" cy="969264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941832" y="145389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8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0.5441 ± 0.0004</a:t>
            </a:r>
            <a:endParaRPr lang="en-US" sz="2500" dirty="0"/>
          </a:p>
        </p:txBody>
      </p:sp>
      <p:sp>
        <p:nvSpPr>
          <p:cNvPr id="14" name="Text 10"/>
          <p:cNvSpPr/>
          <p:nvPr/>
        </p:nvSpPr>
        <p:spPr>
          <a:xfrm>
            <a:off x="941832" y="1837944"/>
            <a:ext cx="2697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Micro-F1 optimized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41832" y="205740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global validation score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977640" y="1325880"/>
            <a:ext cx="292608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3977640" y="1325880"/>
            <a:ext cx="82296" cy="969264"/>
          </a:xfrm>
          <a:prstGeom prst="rect">
            <a:avLst/>
          </a:prstGeom>
          <a:solidFill>
            <a:srgbClr val="E6A700"/>
          </a:solidFill>
          <a:ln w="12700">
            <a:solidFill>
              <a:srgbClr val="E6A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4142232" y="145389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6A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0.5405 ± 0.0009</a:t>
            </a:r>
            <a:endParaRPr lang="en-US" sz="2500" dirty="0"/>
          </a:p>
        </p:txBody>
      </p:sp>
      <p:sp>
        <p:nvSpPr>
          <p:cNvPr id="19" name="Text 15"/>
          <p:cNvSpPr/>
          <p:nvPr/>
        </p:nvSpPr>
        <p:spPr>
          <a:xfrm>
            <a:off x="4142232" y="1837944"/>
            <a:ext cx="2697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Coverage-oriented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142232" y="205740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+26.1% macro_nz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7178040" y="1325880"/>
            <a:ext cx="233172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7178040" y="1325880"/>
            <a:ext cx="82296" cy="969264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7342632" y="14538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D4E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65.7 → 105</a:t>
            </a:r>
            <a:endParaRPr lang="en-US" sz="2500" dirty="0"/>
          </a:p>
        </p:txBody>
      </p:sp>
      <p:sp>
        <p:nvSpPr>
          <p:cNvPr id="24" name="Text 20"/>
          <p:cNvSpPr/>
          <p:nvPr/>
        </p:nvSpPr>
        <p:spPr>
          <a:xfrm>
            <a:off x="7342632" y="1837944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coverage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342632" y="205740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broader semantic output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9784080" y="1325880"/>
            <a:ext cx="164592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9784080" y="1325880"/>
            <a:ext cx="82296" cy="9692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9948672" y="14538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C81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0.5725</a:t>
            </a:r>
            <a:endParaRPr lang="en-US" sz="2500" dirty="0"/>
          </a:p>
        </p:txBody>
      </p:sp>
      <p:sp>
        <p:nvSpPr>
          <p:cNvPr id="29" name="Text 25"/>
          <p:cNvSpPr/>
          <p:nvPr/>
        </p:nvSpPr>
        <p:spPr>
          <a:xfrm>
            <a:off x="9948672" y="183794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score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9948672" y="20574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test set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777240" y="2788920"/>
            <a:ext cx="49834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1024128" y="3035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Per-head calibrated thresholds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960120" y="3456432"/>
            <a:ext cx="2011680" cy="274320"/>
          </a:xfrm>
          <a:prstGeom prst="rect">
            <a:avLst/>
          </a:prstGeom>
          <a:solidFill>
            <a:srgbClr val="0B1F3A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0"/>
          <p:cNvSpPr/>
          <p:nvPr/>
        </p:nvSpPr>
        <p:spPr>
          <a:xfrm>
            <a:off x="996696" y="353872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</a:t>
            </a:r>
            <a:endParaRPr lang="en-US" sz="840" dirty="0"/>
          </a:p>
        </p:txBody>
      </p:sp>
      <p:sp>
        <p:nvSpPr>
          <p:cNvPr id="35" name="Shape 31"/>
          <p:cNvSpPr/>
          <p:nvPr/>
        </p:nvSpPr>
        <p:spPr>
          <a:xfrm>
            <a:off x="2971800" y="3456432"/>
            <a:ext cx="1143000" cy="274320"/>
          </a:xfrm>
          <a:prstGeom prst="rect">
            <a:avLst/>
          </a:prstGeom>
          <a:solidFill>
            <a:srgbClr val="0B1F3A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3008376" y="3538728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Micro-opt</a:t>
            </a:r>
            <a:endParaRPr lang="en-US" sz="840" dirty="0"/>
          </a:p>
        </p:txBody>
      </p:sp>
      <p:sp>
        <p:nvSpPr>
          <p:cNvPr id="37" name="Shape 33"/>
          <p:cNvSpPr/>
          <p:nvPr/>
        </p:nvSpPr>
        <p:spPr>
          <a:xfrm>
            <a:off x="4114800" y="3456432"/>
            <a:ext cx="1371600" cy="274320"/>
          </a:xfrm>
          <a:prstGeom prst="rect">
            <a:avLst/>
          </a:prstGeom>
          <a:solidFill>
            <a:srgbClr val="0B1F3A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4"/>
          <p:cNvSpPr/>
          <p:nvPr/>
        </p:nvSpPr>
        <p:spPr>
          <a:xfrm>
            <a:off x="4151376" y="353872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Coverage-opt</a:t>
            </a:r>
            <a:endParaRPr lang="en-US" sz="840" dirty="0"/>
          </a:p>
        </p:txBody>
      </p:sp>
      <p:sp>
        <p:nvSpPr>
          <p:cNvPr id="39" name="Shape 35"/>
          <p:cNvSpPr/>
          <p:nvPr/>
        </p:nvSpPr>
        <p:spPr>
          <a:xfrm>
            <a:off x="960120" y="3730752"/>
            <a:ext cx="201168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996696" y="381304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 &lt;100</a:t>
            </a:r>
            <a:endParaRPr lang="en-US" sz="840" dirty="0"/>
          </a:p>
        </p:txBody>
      </p:sp>
      <p:sp>
        <p:nvSpPr>
          <p:cNvPr id="41" name="Shape 37"/>
          <p:cNvSpPr/>
          <p:nvPr/>
        </p:nvSpPr>
        <p:spPr>
          <a:xfrm>
            <a:off x="2971800" y="3730752"/>
            <a:ext cx="114300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8"/>
          <p:cNvSpPr/>
          <p:nvPr/>
        </p:nvSpPr>
        <p:spPr>
          <a:xfrm>
            <a:off x="3008376" y="3813048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0.417</a:t>
            </a:r>
            <a:endParaRPr lang="en-US" sz="840" dirty="0"/>
          </a:p>
        </p:txBody>
      </p:sp>
      <p:sp>
        <p:nvSpPr>
          <p:cNvPr id="43" name="Shape 39"/>
          <p:cNvSpPr/>
          <p:nvPr/>
        </p:nvSpPr>
        <p:spPr>
          <a:xfrm>
            <a:off x="4114800" y="3730752"/>
            <a:ext cx="137160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0"/>
          <p:cNvSpPr/>
          <p:nvPr/>
        </p:nvSpPr>
        <p:spPr>
          <a:xfrm>
            <a:off x="4151376" y="381304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0.283</a:t>
            </a:r>
            <a:endParaRPr lang="en-US" sz="840" dirty="0"/>
          </a:p>
        </p:txBody>
      </p:sp>
      <p:sp>
        <p:nvSpPr>
          <p:cNvPr id="45" name="Shape 41"/>
          <p:cNvSpPr/>
          <p:nvPr/>
        </p:nvSpPr>
        <p:spPr>
          <a:xfrm>
            <a:off x="960120" y="4005072"/>
            <a:ext cx="201168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2"/>
          <p:cNvSpPr/>
          <p:nvPr/>
        </p:nvSpPr>
        <p:spPr>
          <a:xfrm>
            <a:off x="996696" y="408736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Low-mid 100–500</a:t>
            </a:r>
            <a:endParaRPr lang="en-US" sz="840" dirty="0"/>
          </a:p>
        </p:txBody>
      </p:sp>
      <p:sp>
        <p:nvSpPr>
          <p:cNvPr id="47" name="Shape 43"/>
          <p:cNvSpPr/>
          <p:nvPr/>
        </p:nvSpPr>
        <p:spPr>
          <a:xfrm>
            <a:off x="2971800" y="4005072"/>
            <a:ext cx="114300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4"/>
          <p:cNvSpPr/>
          <p:nvPr/>
        </p:nvSpPr>
        <p:spPr>
          <a:xfrm>
            <a:off x="3008376" y="4087368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0.417</a:t>
            </a:r>
            <a:endParaRPr lang="en-US" sz="840" dirty="0"/>
          </a:p>
        </p:txBody>
      </p:sp>
      <p:sp>
        <p:nvSpPr>
          <p:cNvPr id="49" name="Shape 45"/>
          <p:cNvSpPr/>
          <p:nvPr/>
        </p:nvSpPr>
        <p:spPr>
          <a:xfrm>
            <a:off x="4114800" y="4005072"/>
            <a:ext cx="137160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6"/>
          <p:cNvSpPr/>
          <p:nvPr/>
        </p:nvSpPr>
        <p:spPr>
          <a:xfrm>
            <a:off x="4151376" y="408736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0.367</a:t>
            </a:r>
            <a:endParaRPr lang="en-US" sz="840" dirty="0"/>
          </a:p>
        </p:txBody>
      </p:sp>
      <p:sp>
        <p:nvSpPr>
          <p:cNvPr id="51" name="Shape 47"/>
          <p:cNvSpPr/>
          <p:nvPr/>
        </p:nvSpPr>
        <p:spPr>
          <a:xfrm>
            <a:off x="960120" y="4279392"/>
            <a:ext cx="201168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48"/>
          <p:cNvSpPr/>
          <p:nvPr/>
        </p:nvSpPr>
        <p:spPr>
          <a:xfrm>
            <a:off x="996696" y="436168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 500–1000</a:t>
            </a:r>
            <a:endParaRPr lang="en-US" sz="840" dirty="0"/>
          </a:p>
        </p:txBody>
      </p:sp>
      <p:sp>
        <p:nvSpPr>
          <p:cNvPr id="53" name="Shape 49"/>
          <p:cNvSpPr/>
          <p:nvPr/>
        </p:nvSpPr>
        <p:spPr>
          <a:xfrm>
            <a:off x="2971800" y="4279392"/>
            <a:ext cx="114300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0"/>
          <p:cNvSpPr/>
          <p:nvPr/>
        </p:nvSpPr>
        <p:spPr>
          <a:xfrm>
            <a:off x="3008376" y="4361688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0.450</a:t>
            </a:r>
            <a:endParaRPr lang="en-US" sz="840" dirty="0"/>
          </a:p>
        </p:txBody>
      </p:sp>
      <p:sp>
        <p:nvSpPr>
          <p:cNvPr id="55" name="Shape 51"/>
          <p:cNvSpPr/>
          <p:nvPr/>
        </p:nvSpPr>
        <p:spPr>
          <a:xfrm>
            <a:off x="4114800" y="4279392"/>
            <a:ext cx="137160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2"/>
          <p:cNvSpPr/>
          <p:nvPr/>
        </p:nvSpPr>
        <p:spPr>
          <a:xfrm>
            <a:off x="4151376" y="436168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0.400</a:t>
            </a:r>
            <a:endParaRPr lang="en-US" sz="840" dirty="0"/>
          </a:p>
        </p:txBody>
      </p:sp>
      <p:sp>
        <p:nvSpPr>
          <p:cNvPr id="57" name="Shape 53"/>
          <p:cNvSpPr/>
          <p:nvPr/>
        </p:nvSpPr>
        <p:spPr>
          <a:xfrm>
            <a:off x="960120" y="4553712"/>
            <a:ext cx="201168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4"/>
          <p:cNvSpPr/>
          <p:nvPr/>
        </p:nvSpPr>
        <p:spPr>
          <a:xfrm>
            <a:off x="996696" y="463600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&gt;1000</a:t>
            </a:r>
            <a:endParaRPr lang="en-US" sz="840" dirty="0"/>
          </a:p>
        </p:txBody>
      </p:sp>
      <p:sp>
        <p:nvSpPr>
          <p:cNvPr id="59" name="Shape 55"/>
          <p:cNvSpPr/>
          <p:nvPr/>
        </p:nvSpPr>
        <p:spPr>
          <a:xfrm>
            <a:off x="2971800" y="4553712"/>
            <a:ext cx="114300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6"/>
          <p:cNvSpPr/>
          <p:nvPr/>
        </p:nvSpPr>
        <p:spPr>
          <a:xfrm>
            <a:off x="3008376" y="4636008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0.450</a:t>
            </a:r>
            <a:endParaRPr lang="en-US" sz="840" dirty="0"/>
          </a:p>
        </p:txBody>
      </p:sp>
      <p:sp>
        <p:nvSpPr>
          <p:cNvPr id="61" name="Shape 57"/>
          <p:cNvSpPr/>
          <p:nvPr/>
        </p:nvSpPr>
        <p:spPr>
          <a:xfrm>
            <a:off x="4114800" y="4553712"/>
            <a:ext cx="137160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58"/>
          <p:cNvSpPr/>
          <p:nvPr/>
        </p:nvSpPr>
        <p:spPr>
          <a:xfrm>
            <a:off x="4151376" y="463600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0.433</a:t>
            </a:r>
            <a:endParaRPr lang="en-US" sz="840" dirty="0"/>
          </a:p>
        </p:txBody>
      </p:sp>
      <p:pic>
        <p:nvPicPr>
          <p:cNvPr id="63" name="Picture 62" descr="training_validation_3fol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788920"/>
            <a:ext cx="5166360" cy="246888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5926639" y="5404104"/>
            <a:ext cx="5526221" cy="69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4D5C70"/>
                </a:solidFill>
                <a:latin typeface="Aptos"/>
              </a:defRPr>
            </a:pPr>
            <a:r>
              <a:rPr dirty="0"/>
              <a:t>Training loss decreases consistently across the three folds, while validation Micro-F1 rapidly converges and remains tightly clustered around the final operating region.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C3756"/>
                </a:solidFill>
              </a:rPr>
              <a:t>10) Official Challenge Result: Competitive Top-4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submitted run was evaluated on the hidden official test set.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125F68"/>
                </a:solidFill>
              </a:rPr>
              <a:t>12/17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• Concept Detection</a:t>
            </a:r>
            <a:endParaRPr lang="en-US" sz="800" dirty="0"/>
          </a:p>
        </p:txBody>
      </p:sp>
      <p:pic>
        <p:nvPicPr>
          <p:cNvPr id="9" name="Image 0" descr="/mnt/data/pptx_unzip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37744"/>
            <a:ext cx="731520" cy="502920"/>
          </a:xfrm>
          <a:prstGeom prst="rect">
            <a:avLst/>
          </a:prstGeom>
        </p:spPr>
      </p:pic>
      <p:pic>
        <p:nvPicPr>
          <p:cNvPr id="10" name="Image 1" descr="/mnt/data/pptx_unzip/ppt/media/image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18077"/>
            <a:ext cx="868680" cy="51482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7240" y="132588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024128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leaderboard excerpt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987552" y="2057400"/>
            <a:ext cx="411480" cy="338328"/>
          </a:xfrm>
          <a:prstGeom prst="rect">
            <a:avLst/>
          </a:prstGeom>
          <a:solidFill>
            <a:srgbClr val="0B1F3A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1024128" y="2139696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1399032" y="2057400"/>
            <a:ext cx="1874520" cy="338328"/>
          </a:xfrm>
          <a:prstGeom prst="rect">
            <a:avLst/>
          </a:prstGeom>
          <a:solidFill>
            <a:srgbClr val="0B1F3A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435608" y="213969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30" dirty="0"/>
          </a:p>
        </p:txBody>
      </p:sp>
      <p:sp>
        <p:nvSpPr>
          <p:cNvPr id="17" name="Shape 13"/>
          <p:cNvSpPr/>
          <p:nvPr/>
        </p:nvSpPr>
        <p:spPr>
          <a:xfrm>
            <a:off x="3273552" y="2057400"/>
            <a:ext cx="960120" cy="338328"/>
          </a:xfrm>
          <a:prstGeom prst="rect">
            <a:avLst/>
          </a:prstGeom>
          <a:solidFill>
            <a:srgbClr val="0B1F3A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3310128" y="2139696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830" dirty="0"/>
          </a:p>
        </p:txBody>
      </p:sp>
      <p:sp>
        <p:nvSpPr>
          <p:cNvPr id="19" name="Shape 15"/>
          <p:cNvSpPr/>
          <p:nvPr/>
        </p:nvSpPr>
        <p:spPr>
          <a:xfrm>
            <a:off x="987552" y="2395728"/>
            <a:ext cx="41148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024128" y="2478024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30" dirty="0"/>
          </a:p>
        </p:txBody>
      </p:sp>
      <p:sp>
        <p:nvSpPr>
          <p:cNvPr id="21" name="Shape 17"/>
          <p:cNvSpPr/>
          <p:nvPr/>
        </p:nvSpPr>
        <p:spPr>
          <a:xfrm>
            <a:off x="1399032" y="2395728"/>
            <a:ext cx="187452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8"/>
          <p:cNvSpPr/>
          <p:nvPr/>
        </p:nvSpPr>
        <p:spPr>
          <a:xfrm>
            <a:off x="1435608" y="2478024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b_wang94</a:t>
            </a:r>
            <a:endParaRPr lang="en-US" sz="830" dirty="0"/>
          </a:p>
        </p:txBody>
      </p:sp>
      <p:sp>
        <p:nvSpPr>
          <p:cNvPr id="23" name="Shape 19"/>
          <p:cNvSpPr/>
          <p:nvPr/>
        </p:nvSpPr>
        <p:spPr>
          <a:xfrm>
            <a:off x="3273552" y="2395728"/>
            <a:ext cx="96012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3310128" y="2478024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0.5790</a:t>
            </a:r>
            <a:endParaRPr lang="en-US" sz="830" dirty="0"/>
          </a:p>
        </p:txBody>
      </p:sp>
      <p:sp>
        <p:nvSpPr>
          <p:cNvPr id="25" name="Shape 21"/>
          <p:cNvSpPr/>
          <p:nvPr/>
        </p:nvSpPr>
        <p:spPr>
          <a:xfrm>
            <a:off x="987552" y="2734056"/>
            <a:ext cx="41148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1024128" y="2816352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30" dirty="0"/>
          </a:p>
        </p:txBody>
      </p:sp>
      <p:sp>
        <p:nvSpPr>
          <p:cNvPr id="27" name="Shape 23"/>
          <p:cNvSpPr/>
          <p:nvPr/>
        </p:nvSpPr>
        <p:spPr>
          <a:xfrm>
            <a:off x="1399032" y="2734056"/>
            <a:ext cx="187452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1435608" y="2816352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archimedes</a:t>
            </a:r>
            <a:endParaRPr lang="en-US" sz="830" dirty="0"/>
          </a:p>
        </p:txBody>
      </p:sp>
      <p:sp>
        <p:nvSpPr>
          <p:cNvPr id="29" name="Shape 25"/>
          <p:cNvSpPr/>
          <p:nvPr/>
        </p:nvSpPr>
        <p:spPr>
          <a:xfrm>
            <a:off x="3273552" y="2734056"/>
            <a:ext cx="96012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6"/>
          <p:cNvSpPr/>
          <p:nvPr/>
        </p:nvSpPr>
        <p:spPr>
          <a:xfrm>
            <a:off x="3310128" y="281635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0.5781</a:t>
            </a:r>
            <a:endParaRPr lang="en-US" sz="830" dirty="0"/>
          </a:p>
        </p:txBody>
      </p:sp>
      <p:sp>
        <p:nvSpPr>
          <p:cNvPr id="31" name="Shape 27"/>
          <p:cNvSpPr/>
          <p:nvPr/>
        </p:nvSpPr>
        <p:spPr>
          <a:xfrm>
            <a:off x="987552" y="3072384"/>
            <a:ext cx="41148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1024128" y="3154680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30" dirty="0"/>
          </a:p>
        </p:txBody>
      </p:sp>
      <p:sp>
        <p:nvSpPr>
          <p:cNvPr id="33" name="Shape 29"/>
          <p:cNvSpPr/>
          <p:nvPr/>
        </p:nvSpPr>
        <p:spPr>
          <a:xfrm>
            <a:off x="1399032" y="3072384"/>
            <a:ext cx="187452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0"/>
          <p:cNvSpPr/>
          <p:nvPr/>
        </p:nvSpPr>
        <p:spPr>
          <a:xfrm>
            <a:off x="1435608" y="3154680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y_zhang</a:t>
            </a:r>
            <a:endParaRPr lang="en-US" sz="830" dirty="0"/>
          </a:p>
        </p:txBody>
      </p:sp>
      <p:sp>
        <p:nvSpPr>
          <p:cNvPr id="35" name="Shape 31"/>
          <p:cNvSpPr/>
          <p:nvPr/>
        </p:nvSpPr>
        <p:spPr>
          <a:xfrm>
            <a:off x="3273552" y="3072384"/>
            <a:ext cx="96012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3310128" y="315468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0.5763</a:t>
            </a:r>
            <a:endParaRPr lang="en-US" sz="830" dirty="0"/>
          </a:p>
        </p:txBody>
      </p:sp>
      <p:sp>
        <p:nvSpPr>
          <p:cNvPr id="37" name="Shape 33"/>
          <p:cNvSpPr/>
          <p:nvPr/>
        </p:nvSpPr>
        <p:spPr>
          <a:xfrm>
            <a:off x="987552" y="3410712"/>
            <a:ext cx="41148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4"/>
          <p:cNvSpPr/>
          <p:nvPr/>
        </p:nvSpPr>
        <p:spPr>
          <a:xfrm>
            <a:off x="1024128" y="3493008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30" dirty="0"/>
          </a:p>
        </p:txBody>
      </p:sp>
      <p:sp>
        <p:nvSpPr>
          <p:cNvPr id="39" name="Shape 35"/>
          <p:cNvSpPr/>
          <p:nvPr/>
        </p:nvSpPr>
        <p:spPr>
          <a:xfrm>
            <a:off x="1399032" y="3410712"/>
            <a:ext cx="187452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1435608" y="349300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quocthai91206</a:t>
            </a:r>
            <a:endParaRPr lang="en-US" sz="830" dirty="0"/>
          </a:p>
        </p:txBody>
      </p:sp>
      <p:sp>
        <p:nvSpPr>
          <p:cNvPr id="41" name="Shape 37"/>
          <p:cNvSpPr/>
          <p:nvPr/>
        </p:nvSpPr>
        <p:spPr>
          <a:xfrm>
            <a:off x="3273552" y="3410712"/>
            <a:ext cx="960120" cy="338328"/>
          </a:xfrm>
          <a:prstGeom prst="rect">
            <a:avLst/>
          </a:prstGeom>
          <a:solidFill>
            <a:srgbClr val="FFFFFF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8"/>
          <p:cNvSpPr/>
          <p:nvPr/>
        </p:nvSpPr>
        <p:spPr>
          <a:xfrm>
            <a:off x="3310128" y="349300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0.5725</a:t>
            </a:r>
            <a:endParaRPr lang="en-US" sz="830" dirty="0"/>
          </a:p>
        </p:txBody>
      </p:sp>
      <p:sp>
        <p:nvSpPr>
          <p:cNvPr id="43" name="Shape 39"/>
          <p:cNvSpPr/>
          <p:nvPr/>
        </p:nvSpPr>
        <p:spPr>
          <a:xfrm>
            <a:off x="987552" y="3749040"/>
            <a:ext cx="411480" cy="338328"/>
          </a:xfrm>
          <a:prstGeom prst="rect">
            <a:avLst/>
          </a:prstGeom>
          <a:solidFill>
            <a:srgbClr val="E8F6F6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0"/>
          <p:cNvSpPr/>
          <p:nvPr/>
        </p:nvSpPr>
        <p:spPr>
          <a:xfrm>
            <a:off x="1024128" y="3831336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30" dirty="0"/>
          </a:p>
        </p:txBody>
      </p:sp>
      <p:sp>
        <p:nvSpPr>
          <p:cNvPr id="45" name="Shape 41"/>
          <p:cNvSpPr/>
          <p:nvPr/>
        </p:nvSpPr>
        <p:spPr>
          <a:xfrm>
            <a:off x="1399032" y="3749040"/>
            <a:ext cx="1874520" cy="338328"/>
          </a:xfrm>
          <a:prstGeom prst="rect">
            <a:avLst/>
          </a:prstGeom>
          <a:solidFill>
            <a:srgbClr val="E8F6F6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2"/>
          <p:cNvSpPr/>
          <p:nvPr/>
        </p:nvSpPr>
        <p:spPr>
          <a:xfrm>
            <a:off x="1435608" y="383133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basharderar (our team)</a:t>
            </a:r>
            <a:endParaRPr lang="en-US" sz="830" dirty="0"/>
          </a:p>
        </p:txBody>
      </p:sp>
      <p:sp>
        <p:nvSpPr>
          <p:cNvPr id="47" name="Shape 43"/>
          <p:cNvSpPr/>
          <p:nvPr/>
        </p:nvSpPr>
        <p:spPr>
          <a:xfrm>
            <a:off x="3273552" y="3749040"/>
            <a:ext cx="960120" cy="338328"/>
          </a:xfrm>
          <a:prstGeom prst="rect">
            <a:avLst/>
          </a:prstGeom>
          <a:solidFill>
            <a:srgbClr val="E8F6F6"/>
          </a:solidFill>
          <a:ln w="7620">
            <a:solidFill>
              <a:srgbClr val="DFE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4"/>
          <p:cNvSpPr/>
          <p:nvPr/>
        </p:nvSpPr>
        <p:spPr>
          <a:xfrm>
            <a:off x="3310128" y="3831336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0.5725</a:t>
            </a:r>
            <a:endParaRPr lang="en-US" sz="830" dirty="0"/>
          </a:p>
        </p:txBody>
      </p:sp>
      <p:sp>
        <p:nvSpPr>
          <p:cNvPr id="49" name="Shape 45"/>
          <p:cNvSpPr/>
          <p:nvPr/>
        </p:nvSpPr>
        <p:spPr>
          <a:xfrm>
            <a:off x="987552" y="3749040"/>
            <a:ext cx="3246120" cy="338328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6"/>
          <p:cNvSpPr/>
          <p:nvPr/>
        </p:nvSpPr>
        <p:spPr>
          <a:xfrm>
            <a:off x="1078992" y="47548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0.0065 below the top score</a:t>
            </a:r>
            <a:endParaRPr lang="en-US" sz="1150" dirty="0"/>
          </a:p>
        </p:txBody>
      </p:sp>
      <p:sp>
        <p:nvSpPr>
          <p:cNvPr id="51" name="Shape 47"/>
          <p:cNvSpPr/>
          <p:nvPr/>
        </p:nvSpPr>
        <p:spPr>
          <a:xfrm>
            <a:off x="4892040" y="1463040"/>
            <a:ext cx="6263640" cy="3977640"/>
          </a:xfrm>
          <a:prstGeom prst="roundRect">
            <a:avLst>
              <a:gd name="adj" fmla="val 2299"/>
            </a:avLst>
          </a:prstGeom>
          <a:solidFill>
            <a:srgbClr val="E9F3F8"/>
          </a:solidFill>
          <a:ln w="12700">
            <a:solidFill>
              <a:srgbClr val="C9DC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48"/>
          <p:cNvSpPr/>
          <p:nvPr/>
        </p:nvSpPr>
        <p:spPr>
          <a:xfrm>
            <a:off x="5212080" y="179222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Official hidden-test performance</a:t>
            </a:r>
            <a:endParaRPr lang="en-US" sz="2000" dirty="0"/>
          </a:p>
        </p:txBody>
      </p:sp>
      <p:sp>
        <p:nvSpPr>
          <p:cNvPr id="53" name="Shape 49"/>
          <p:cNvSpPr/>
          <p:nvPr/>
        </p:nvSpPr>
        <p:spPr>
          <a:xfrm>
            <a:off x="5394960" y="2514600"/>
            <a:ext cx="201168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0"/>
          <p:cNvSpPr/>
          <p:nvPr/>
        </p:nvSpPr>
        <p:spPr>
          <a:xfrm>
            <a:off x="5394960" y="2514600"/>
            <a:ext cx="82296" cy="969264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1"/>
          <p:cNvSpPr/>
          <p:nvPr/>
        </p:nvSpPr>
        <p:spPr>
          <a:xfrm>
            <a:off x="5559552" y="264261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8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0.5725</a:t>
            </a:r>
            <a:endParaRPr lang="en-US" sz="2500" dirty="0"/>
          </a:p>
        </p:txBody>
      </p:sp>
      <p:sp>
        <p:nvSpPr>
          <p:cNvPr id="56" name="Text 52"/>
          <p:cNvSpPr/>
          <p:nvPr/>
        </p:nvSpPr>
        <p:spPr>
          <a:xfrm>
            <a:off x="5559552" y="3026664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score</a:t>
            </a:r>
            <a:endParaRPr lang="en-US" sz="1050" dirty="0"/>
          </a:p>
        </p:txBody>
      </p:sp>
      <p:sp>
        <p:nvSpPr>
          <p:cNvPr id="57" name="Shape 53"/>
          <p:cNvSpPr/>
          <p:nvPr/>
        </p:nvSpPr>
        <p:spPr>
          <a:xfrm>
            <a:off x="7635240" y="2514600"/>
            <a:ext cx="164592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4"/>
          <p:cNvSpPr/>
          <p:nvPr/>
        </p:nvSpPr>
        <p:spPr>
          <a:xfrm>
            <a:off x="7635240" y="2514600"/>
            <a:ext cx="82296" cy="969264"/>
          </a:xfrm>
          <a:prstGeom prst="rect">
            <a:avLst/>
          </a:prstGeom>
          <a:solidFill>
            <a:srgbClr val="E6A700"/>
          </a:solidFill>
          <a:ln w="12700">
            <a:solidFill>
              <a:srgbClr val="E6A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5"/>
          <p:cNvSpPr/>
          <p:nvPr/>
        </p:nvSpPr>
        <p:spPr>
          <a:xfrm>
            <a:off x="7799832" y="264261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6A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4th</a:t>
            </a:r>
            <a:endParaRPr lang="en-US" sz="2500" dirty="0"/>
          </a:p>
        </p:txBody>
      </p:sp>
      <p:sp>
        <p:nvSpPr>
          <p:cNvPr id="60" name="Text 56"/>
          <p:cNvSpPr/>
          <p:nvPr/>
        </p:nvSpPr>
        <p:spPr>
          <a:xfrm>
            <a:off x="7799832" y="302666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rank</a:t>
            </a:r>
            <a:endParaRPr lang="en-US" sz="1050" dirty="0"/>
          </a:p>
        </p:txBody>
      </p:sp>
      <p:sp>
        <p:nvSpPr>
          <p:cNvPr id="61" name="Shape 57"/>
          <p:cNvSpPr/>
          <p:nvPr/>
        </p:nvSpPr>
        <p:spPr>
          <a:xfrm>
            <a:off x="9464040" y="2514600"/>
            <a:ext cx="150876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58"/>
          <p:cNvSpPr/>
          <p:nvPr/>
        </p:nvSpPr>
        <p:spPr>
          <a:xfrm>
            <a:off x="9464040" y="2514600"/>
            <a:ext cx="82296" cy="969264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59"/>
          <p:cNvSpPr/>
          <p:nvPr/>
        </p:nvSpPr>
        <p:spPr>
          <a:xfrm>
            <a:off x="9628632" y="26426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D4E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0.9419</a:t>
            </a:r>
            <a:endParaRPr lang="en-US" sz="2500" dirty="0"/>
          </a:p>
        </p:txBody>
      </p:sp>
      <p:sp>
        <p:nvSpPr>
          <p:cNvPr id="64" name="Text 60"/>
          <p:cNvSpPr/>
          <p:nvPr/>
        </p:nvSpPr>
        <p:spPr>
          <a:xfrm>
            <a:off x="9628632" y="302666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score</a:t>
            </a:r>
            <a:endParaRPr lang="en-US" sz="1050" dirty="0"/>
          </a:p>
        </p:txBody>
      </p:sp>
      <p:sp>
        <p:nvSpPr>
          <p:cNvPr id="65" name="Text 61"/>
          <p:cNvSpPr/>
          <p:nvPr/>
        </p:nvSpPr>
        <p:spPr>
          <a:xfrm>
            <a:off x="5349240" y="4251960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confirms that the frequency-aware decomposition generalized beyond internal validation to the official challenge test set.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39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20040"/>
            <a:ext cx="88696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7" y="758952"/>
            <a:ext cx="8961120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019175"/>
            <a:ext cx="11109960" cy="6350"/>
          </a:xfrm>
          <a:prstGeom prst="rect">
            <a:avLst/>
          </a:prstGeom>
          <a:solidFill>
            <a:srgbClr val="D2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25F68"/>
                </a:solidFill>
              </a:rPr>
              <a:t>13/17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40" b="0">
                <a:solidFill>
                  <a:srgbClr val="5C6974"/>
                </a:solidFill>
              </a:rPr>
              <a:t>Hybrid Vision–Language Approach • Concept Detection</a:t>
            </a:r>
          </a:p>
        </p:txBody>
      </p:sp>
      <p:pic>
        <p:nvPicPr>
          <p:cNvPr id="9" name="Picture 8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37744"/>
            <a:ext cx="731520" cy="5029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19456"/>
            <a:ext cx="868680" cy="51206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" y="1051560"/>
            <a:ext cx="2788920" cy="640080"/>
          </a:xfrm>
          <a:prstGeom prst="roundRect">
            <a:avLst/>
          </a:prstGeom>
          <a:solidFill>
            <a:srgbClr val="E5F5F5"/>
          </a:solidFill>
          <a:ln w="12700">
            <a:solidFill>
              <a:srgbClr val="007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161288"/>
            <a:ext cx="114300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0707A"/>
                </a:solidFill>
                <a:latin typeface="Aptos"/>
              </a:rPr>
              <a:t>0.5725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143000"/>
            <a:ext cx="13716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60" b="1">
                <a:solidFill>
                  <a:srgbClr val="1B3A5C"/>
                </a:solidFill>
                <a:latin typeface="Aptos"/>
              </a:rPr>
              <a:t>Official hidden-test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362456"/>
            <a:ext cx="13716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70" b="0">
                <a:solidFill>
                  <a:srgbClr val="54626F"/>
                </a:solidFill>
                <a:latin typeface="Aptos"/>
              </a:rPr>
              <a:t>final submitted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1051560"/>
            <a:ext cx="2788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58768" y="1161288"/>
            <a:ext cx="114300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Aptos"/>
              </a:rPr>
              <a:t>4th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1143000"/>
            <a:ext cx="13716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60" b="1">
                <a:solidFill>
                  <a:srgbClr val="1B3A5C"/>
                </a:solidFill>
                <a:latin typeface="Aptos"/>
              </a:rPr>
              <a:t>Final 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79" y="1362456"/>
            <a:ext cx="13716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70" b="0">
                <a:solidFill>
                  <a:srgbClr val="54626F"/>
                </a:solidFill>
                <a:latin typeface="Aptos"/>
              </a:rPr>
              <a:t>Concept Detection Task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13448" y="1048766"/>
            <a:ext cx="2788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7178040" y="1103745"/>
            <a:ext cx="114300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dirty="0">
                <a:solidFill>
                  <a:srgbClr val="1B3A5C"/>
                </a:solidFill>
                <a:latin typeface="Aptos"/>
              </a:rPr>
              <a:t>0.5441 ± 0.0004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183327"/>
            <a:ext cx="13716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60" b="1" dirty="0">
                <a:solidFill>
                  <a:srgbClr val="1B3A5C"/>
                </a:solidFill>
                <a:latin typeface="Aptos"/>
              </a:rPr>
              <a:t>Best internal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1361059"/>
            <a:ext cx="13716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70" b="0" dirty="0">
                <a:solidFill>
                  <a:srgbClr val="54626F"/>
                </a:solidFill>
                <a:latin typeface="Aptos"/>
              </a:rPr>
              <a:t>micro-F1 optimized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841315"/>
              </p:ext>
            </p:extLst>
          </p:nvPr>
        </p:nvGraphicFramePr>
        <p:xfrm>
          <a:off x="475488" y="1920240"/>
          <a:ext cx="10966705" cy="3568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3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6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77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Reference / system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Reported setting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Reported result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Professional comparison to our work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CheXNet / DenseNet (2017)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Chest X-ray CNN baseline; smaller label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Pneumonia F1 ≈ 0.435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Contextual baseline only; our official 0.5725 is higher but on a different task/protocol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707A"/>
                          </a:solidFill>
                          <a:latin typeface="Aptos"/>
                        </a:rPr>
                        <a:t>Santamato et al. (2025)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707A"/>
                          </a:solidFill>
                          <a:latin typeface="Aptos"/>
                        </a:rPr>
                        <a:t>ImageCLEF-style full concept prediction with CNN transfer learning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707A"/>
                          </a:solidFill>
                          <a:latin typeface="Aptos"/>
                        </a:rPr>
                        <a:t>F1 ≈ 0.26 on thousands of concepts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707A"/>
                          </a:solidFill>
                          <a:latin typeface="Aptos"/>
                        </a:rPr>
                        <a:t>Clearly surpassed; supports the difficulty of full long-tail concept detection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707A"/>
                          </a:solidFill>
                          <a:latin typeface="Aptos"/>
                        </a:rPr>
                        <a:t>Sahni et al. (2025)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707A"/>
                          </a:solidFill>
                          <a:latin typeface="Aptos"/>
                        </a:rPr>
                        <a:t>ROCOv2/ImageCLEF CNN baselines (ResNet/DenseNet/Inception)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707A"/>
                          </a:solidFill>
                          <a:latin typeface="Aptos"/>
                        </a:rPr>
                        <a:t>F1 up to 0.4686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00707A"/>
                          </a:solidFill>
                          <a:latin typeface="Aptos"/>
                        </a:rPr>
                        <a:t>Surpassed by both our validation 0.5441 and official score 0.5725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DenseNet baseline (ours)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Calibrated CNN baseline + threshold/top-k analysis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232D37"/>
                          </a:solidFill>
                          <a:latin typeface="Aptos"/>
                        </a:rPr>
                        <a:t>≈ 0.466 micro-F1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Improved by moving from global calibration to structured frequency-aware learning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1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DenseNetGraphHead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Graph-based label modeling + ASL + 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0.5372 ± 0.0004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232D37"/>
                          </a:solidFill>
                          <a:latin typeface="Aptos"/>
                        </a:rPr>
                        <a:t>Important structural gain, but still below final </a:t>
                      </a:r>
                      <a:r>
                        <a:rPr sz="800" b="0" dirty="0" err="1">
                          <a:solidFill>
                            <a:srgbClr val="232D37"/>
                          </a:solidFill>
                          <a:latin typeface="Aptos"/>
                        </a:rPr>
                        <a:t>SwinMultiHead</a:t>
                      </a:r>
                      <a:endParaRPr sz="800" b="0" dirty="0">
                        <a:solidFill>
                          <a:srgbClr val="232D37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1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Final SwinMultiHead (ours)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Frequency-aware heads + ASL + EMA + per-head calibration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0.5441 ± 0.0004 val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Strongest internal configuration; validates the final design choices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14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707A"/>
                          </a:solidFill>
                          <a:latin typeface="Aptos"/>
                        </a:rPr>
                        <a:t>Official submitted system (ours)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707A"/>
                          </a:solidFill>
                          <a:latin typeface="Aptos"/>
                        </a:rPr>
                        <a:t>Hidden test evaluation in ImageCLEFmed Caption 2026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707A"/>
                          </a:solidFill>
                          <a:latin typeface="Aptos"/>
                        </a:rPr>
                        <a:t>0.5725; rank 4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707A"/>
                          </a:solidFill>
                          <a:latin typeface="Aptos"/>
                        </a:rPr>
                        <a:t>Competitive top-4 result; only 0.0065 below the top score</a:t>
                      </a:r>
                    </a:p>
                  </a:txBody>
                  <a:tcPr>
                    <a:solidFill>
                      <a:srgbClr val="E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1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Top official reference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b_wang94 on the same 2026 hidden test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D37"/>
                          </a:solidFill>
                          <a:latin typeface="Aptos"/>
                        </a:rPr>
                        <a:t>0.5790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232D37"/>
                          </a:solidFill>
                          <a:latin typeface="Aptos"/>
                        </a:rPr>
                        <a:t>Direct official benchmark; our system remains very close to the best score</a:t>
                      </a:r>
                    </a:p>
                  </a:txBody>
                  <a:tcPr>
                    <a:solidFill>
                      <a:srgbClr val="EF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783080" y="5507482"/>
            <a:ext cx="10012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80" b="0" dirty="0">
                <a:solidFill>
                  <a:srgbClr val="54626F"/>
                </a:solidFill>
                <a:latin typeface="Aptos"/>
              </a:rPr>
              <a:t>Note: cross-paper scores may differ by dataset, year, and protocol; the official 2026 hidden-test leaderboard is the strongest direct comparison.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852160"/>
            <a:ext cx="10966704" cy="329184"/>
          </a:xfrm>
          <a:prstGeom prst="roundRect">
            <a:avLst/>
          </a:prstGeom>
          <a:solidFill>
            <a:srgbClr val="EBF8EF"/>
          </a:solidFill>
          <a:ln w="11430">
            <a:solidFill>
              <a:srgbClr val="7AB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1211580" y="5879592"/>
            <a:ext cx="969264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69" b="1" dirty="0">
                <a:solidFill>
                  <a:srgbClr val="267D46"/>
                </a:solidFill>
                <a:latin typeface="Aptos"/>
              </a:rPr>
              <a:t>Main message: the final model surpasses reported CNN-style baselines and reaches a competitive top-4 position on the official </a:t>
            </a:r>
            <a:r>
              <a:rPr sz="869" b="1" dirty="0" err="1">
                <a:solidFill>
                  <a:srgbClr val="267D46"/>
                </a:solidFill>
                <a:latin typeface="Aptos"/>
              </a:rPr>
              <a:t>ImageCLEFmed</a:t>
            </a:r>
            <a:r>
              <a:rPr sz="869" b="1" dirty="0">
                <a:solidFill>
                  <a:srgbClr val="267D46"/>
                </a:solidFill>
                <a:latin typeface="Aptos"/>
              </a:rPr>
              <a:t> Caption 2026 Concept Detection leaderboard.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01752"/>
            <a:ext cx="8869680" cy="329184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2400" b="1">
                <a:solidFill>
                  <a:srgbClr val="1B3A5C"/>
                </a:solidFill>
                <a:latin typeface="Aptos Display"/>
              </a:rPr>
              <a:t>11) Broader Comparison with Reference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704088"/>
            <a:ext cx="9326880" cy="256032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300" b="0">
                <a:solidFill>
                  <a:srgbClr val="54626F"/>
                </a:solidFill>
                <a:latin typeface="Aptos Display"/>
              </a:rPr>
              <a:t>The final system surpasses several reported reference baselines while remaining close to the strongest official 2026 submissions.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C3756"/>
                </a:solidFill>
              </a:rPr>
              <a:t>12) Interpretation: Why the Final Design Worked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strength of the final system comes from combining representation, imbalance-aware training, and calibrated decisions.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125F68"/>
                </a:solidFill>
              </a:rPr>
              <a:t>14/17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• Concept Detection</a:t>
            </a:r>
            <a:endParaRPr lang="en-US" sz="800" dirty="0"/>
          </a:p>
        </p:txBody>
      </p:sp>
      <p:pic>
        <p:nvPicPr>
          <p:cNvPr id="9" name="Image 0" descr="/mnt/data/pptx_unzip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37744"/>
            <a:ext cx="731520" cy="502920"/>
          </a:xfrm>
          <a:prstGeom prst="rect">
            <a:avLst/>
          </a:prstGeom>
        </p:spPr>
      </p:pic>
      <p:pic>
        <p:nvPicPr>
          <p:cNvPr id="10" name="Image 1" descr="/mnt/data/pptx_unzip/ppt/media/image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18077"/>
            <a:ext cx="868680" cy="51482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7240" y="1417320"/>
            <a:ext cx="50292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777240" y="1417320"/>
            <a:ext cx="5029200" cy="64008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941832" y="1563624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41832" y="1929384"/>
            <a:ext cx="470001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Swin Transformer captures local and contextual image evidence needed for radiology concepts.</a:t>
            </a:r>
            <a:endParaRPr lang="en-US" sz="1140" dirty="0"/>
          </a:p>
        </p:txBody>
      </p:sp>
      <p:sp>
        <p:nvSpPr>
          <p:cNvPr id="15" name="Shape 11"/>
          <p:cNvSpPr/>
          <p:nvPr/>
        </p:nvSpPr>
        <p:spPr>
          <a:xfrm>
            <a:off x="6263640" y="1417320"/>
            <a:ext cx="50292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263640" y="1417320"/>
            <a:ext cx="5029200" cy="6400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6428232" y="1563624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Label-space decomposition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428232" y="1929384"/>
            <a:ext cx="470001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Frequency-based heads reduce competition between rare and common labels.</a:t>
            </a:r>
            <a:endParaRPr lang="en-US" sz="1140" dirty="0"/>
          </a:p>
        </p:txBody>
      </p:sp>
      <p:sp>
        <p:nvSpPr>
          <p:cNvPr id="19" name="Shape 15"/>
          <p:cNvSpPr/>
          <p:nvPr/>
        </p:nvSpPr>
        <p:spPr>
          <a:xfrm>
            <a:off x="777240" y="3520440"/>
            <a:ext cx="50292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777240" y="3520440"/>
            <a:ext cx="5029200" cy="64008"/>
          </a:xfrm>
          <a:prstGeom prst="rect">
            <a:avLst/>
          </a:prstGeom>
          <a:solidFill>
            <a:srgbClr val="E6A700"/>
          </a:solidFill>
          <a:ln w="12700">
            <a:solidFill>
              <a:srgbClr val="E6A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941832" y="3666744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Imbalance-aware objective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941832" y="4032504"/>
            <a:ext cx="470001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ASL and group loss weights reduce the dominance of easy negatives and frequent concepts.</a:t>
            </a:r>
            <a:endParaRPr lang="en-US" sz="1140" dirty="0"/>
          </a:p>
        </p:txBody>
      </p:sp>
      <p:sp>
        <p:nvSpPr>
          <p:cNvPr id="23" name="Shape 19"/>
          <p:cNvSpPr/>
          <p:nvPr/>
        </p:nvSpPr>
        <p:spPr>
          <a:xfrm>
            <a:off x="6263640" y="3520440"/>
            <a:ext cx="50292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6263640" y="3520440"/>
            <a:ext cx="50292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6428232" y="3666744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Calibration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428232" y="4032504"/>
            <a:ext cx="470001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Per-head thresholds adapt the final decision boundary to each frequency group.</a:t>
            </a:r>
            <a:endParaRPr lang="en-US" sz="1140" dirty="0"/>
          </a:p>
        </p:txBody>
      </p:sp>
      <p:sp>
        <p:nvSpPr>
          <p:cNvPr id="27" name="Shape 23"/>
          <p:cNvSpPr/>
          <p:nvPr/>
        </p:nvSpPr>
        <p:spPr>
          <a:xfrm>
            <a:off x="2103120" y="5486400"/>
            <a:ext cx="7909560" cy="50292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2240280" y="5650992"/>
            <a:ext cx="7635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message: the final model is not only a stronger backbone; it is a frequency-aware prediction strategy.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C3756"/>
                </a:solidFill>
              </a:rPr>
              <a:t>13) Final Deliverables and Reproducibility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produced a complete research pipeline, official submission, thesis report, and public artifacts.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125F68"/>
                </a:solidFill>
              </a:rPr>
              <a:t>15/17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• Concept Detection</a:t>
            </a:r>
            <a:endParaRPr lang="en-US" sz="800" dirty="0"/>
          </a:p>
        </p:txBody>
      </p:sp>
      <p:pic>
        <p:nvPicPr>
          <p:cNvPr id="9" name="Image 0" descr="/mnt/data/pptx_unzip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37744"/>
            <a:ext cx="731520" cy="502920"/>
          </a:xfrm>
          <a:prstGeom prst="rect">
            <a:avLst/>
          </a:prstGeom>
        </p:spPr>
      </p:pic>
      <p:pic>
        <p:nvPicPr>
          <p:cNvPr id="10" name="Image 1" descr="/mnt/data/pptx_unzip/ppt/media/image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18077"/>
            <a:ext cx="868680" cy="514823"/>
          </a:xfrm>
          <a:prstGeom prst="rect">
            <a:avLst/>
          </a:prstGeom>
        </p:spPr>
      </p:pic>
      <p:pic>
        <p:nvPicPr>
          <p:cNvPr id="11" name="Image 2" descr="/mnt/data/paper_pages/page1.png"/>
          <p:cNvPicPr>
            <a:picLocks noChangeAspect="1"/>
          </p:cNvPicPr>
          <p:nvPr/>
        </p:nvPicPr>
        <p:blipFill>
          <a:blip r:embed="rId5"/>
          <a:srcRect t="3072" b="3072"/>
          <a:stretch/>
        </p:blipFill>
        <p:spPr>
          <a:xfrm>
            <a:off x="502920" y="1325880"/>
            <a:ext cx="2514600" cy="363016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337560" y="13258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8"/>
          <p:cNvSpPr/>
          <p:nvPr/>
        </p:nvSpPr>
        <p:spPr>
          <a:xfrm>
            <a:off x="3337560" y="1325880"/>
            <a:ext cx="3566160" cy="64008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3502152" y="1472184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Notes paper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502152" y="1837944"/>
            <a:ext cx="323697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 to CLEF/ImageCLEF Working Notes using CEURART format.</a:t>
            </a:r>
            <a:endParaRPr lang="en-US" sz="1140" dirty="0"/>
          </a:p>
        </p:txBody>
      </p:sp>
      <p:sp>
        <p:nvSpPr>
          <p:cNvPr id="16" name="Shape 11"/>
          <p:cNvSpPr/>
          <p:nvPr/>
        </p:nvSpPr>
        <p:spPr>
          <a:xfrm>
            <a:off x="3337560" y="2615184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3337560" y="2615184"/>
            <a:ext cx="3566160" cy="6400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3502152" y="2761488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3502152" y="3127248"/>
            <a:ext cx="323697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Code, project materials, and documentation are publicly available.</a:t>
            </a:r>
            <a:endParaRPr lang="en-US" sz="1140" dirty="0"/>
          </a:p>
        </p:txBody>
      </p:sp>
      <p:sp>
        <p:nvSpPr>
          <p:cNvPr id="20" name="Shape 15"/>
          <p:cNvSpPr/>
          <p:nvPr/>
        </p:nvSpPr>
        <p:spPr>
          <a:xfrm>
            <a:off x="3337560" y="3904488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3337560" y="3904488"/>
            <a:ext cx="3566160" cy="64008"/>
          </a:xfrm>
          <a:prstGeom prst="rect">
            <a:avLst/>
          </a:prstGeom>
          <a:solidFill>
            <a:srgbClr val="E6A700"/>
          </a:solidFill>
          <a:ln w="12700">
            <a:solidFill>
              <a:srgbClr val="E6A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7"/>
          <p:cNvSpPr/>
          <p:nvPr/>
        </p:nvSpPr>
        <p:spPr>
          <a:xfrm>
            <a:off x="3502152" y="405079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Trained checkpoints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3502152" y="4416552"/>
            <a:ext cx="323697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three-fold checkpoints released through GitHub Releases.</a:t>
            </a:r>
            <a:endParaRPr lang="en-US" sz="1140" dirty="0"/>
          </a:p>
        </p:txBody>
      </p:sp>
      <p:sp>
        <p:nvSpPr>
          <p:cNvPr id="24" name="Shape 19"/>
          <p:cNvSpPr/>
          <p:nvPr/>
        </p:nvSpPr>
        <p:spPr>
          <a:xfrm>
            <a:off x="7360920" y="132588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0"/>
          <p:cNvSpPr/>
          <p:nvPr/>
        </p:nvSpPr>
        <p:spPr>
          <a:xfrm>
            <a:off x="7360920" y="1325880"/>
            <a:ext cx="3886200" cy="64008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1"/>
          <p:cNvSpPr/>
          <p:nvPr/>
        </p:nvSpPr>
        <p:spPr>
          <a:xfrm>
            <a:off x="7525512" y="1472184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Thesis report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7525512" y="1837944"/>
            <a:ext cx="355701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graduation report updated with final rank and supervisor edits.</a:t>
            </a:r>
            <a:endParaRPr lang="en-US" sz="1140" dirty="0"/>
          </a:p>
        </p:txBody>
      </p:sp>
      <p:sp>
        <p:nvSpPr>
          <p:cNvPr id="28" name="Shape 23"/>
          <p:cNvSpPr/>
          <p:nvPr/>
        </p:nvSpPr>
        <p:spPr>
          <a:xfrm>
            <a:off x="7360920" y="2615184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4"/>
          <p:cNvSpPr/>
          <p:nvPr/>
        </p:nvSpPr>
        <p:spPr>
          <a:xfrm>
            <a:off x="7360920" y="2615184"/>
            <a:ext cx="38862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5"/>
          <p:cNvSpPr/>
          <p:nvPr/>
        </p:nvSpPr>
        <p:spPr>
          <a:xfrm>
            <a:off x="7525512" y="2761488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Official challenge run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7525512" y="3127248"/>
            <a:ext cx="355701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submission achieved score 0.5725 and rank 4th.</a:t>
            </a:r>
            <a:endParaRPr lang="en-US" sz="1140" dirty="0"/>
          </a:p>
        </p:txBody>
      </p:sp>
      <p:sp>
        <p:nvSpPr>
          <p:cNvPr id="32" name="Shape 27"/>
          <p:cNvSpPr/>
          <p:nvPr/>
        </p:nvSpPr>
        <p:spPr>
          <a:xfrm>
            <a:off x="7360920" y="3904488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28"/>
          <p:cNvSpPr/>
          <p:nvPr/>
        </p:nvSpPr>
        <p:spPr>
          <a:xfrm>
            <a:off x="7360920" y="3904488"/>
            <a:ext cx="3886200" cy="6400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9"/>
          <p:cNvSpPr/>
          <p:nvPr/>
        </p:nvSpPr>
        <p:spPr>
          <a:xfrm>
            <a:off x="7525512" y="4050792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Reproducibility statement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7525512" y="4416552"/>
            <a:ext cx="355701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is not redistributed due to challenge restrictions; model artifacts are released.</a:t>
            </a:r>
            <a:endParaRPr lang="en-US" sz="1140" dirty="0"/>
          </a:p>
        </p:txBody>
      </p:sp>
      <p:sp>
        <p:nvSpPr>
          <p:cNvPr id="36" name="Text 31"/>
          <p:cNvSpPr/>
          <p:nvPr/>
        </p:nvSpPr>
        <p:spPr>
          <a:xfrm>
            <a:off x="868680" y="5623560"/>
            <a:ext cx="10469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repository: github.com/BasharDerar/ImageCLEFmed-2026-Concept-Detection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C3756"/>
                </a:solidFill>
              </a:rPr>
              <a:t>14) Limitations and Future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system is competitive, but rare medical concept detection remains a challenging research direction.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125F68"/>
                </a:solidFill>
              </a:rPr>
              <a:t>16/17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• Concept Detection</a:t>
            </a:r>
            <a:endParaRPr lang="en-US" sz="800" dirty="0"/>
          </a:p>
        </p:txBody>
      </p:sp>
      <p:pic>
        <p:nvPicPr>
          <p:cNvPr id="9" name="Image 0" descr="/mnt/data/pptx_unzip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37744"/>
            <a:ext cx="731520" cy="502920"/>
          </a:xfrm>
          <a:prstGeom prst="rect">
            <a:avLst/>
          </a:prstGeom>
        </p:spPr>
      </p:pic>
      <p:pic>
        <p:nvPicPr>
          <p:cNvPr id="10" name="Image 1" descr="/mnt/data/pptx_unzip/ppt/media/image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18077"/>
            <a:ext cx="868680" cy="5148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limitations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60120" y="1783080"/>
            <a:ext cx="484632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rare concepts still have limited positive supervision.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UMLS ontology relations are not explicitly modeled.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co-occurrence is only partially captured through shared features and frequency heads.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calibration improves behavior but does not create new visual evidence.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4652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directions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629400" y="1783080"/>
            <a:ext cx="466344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Ontology-aware concept modeling using UMLS relationships.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Consultive learning between frequent and rare concept branches.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vision-language pretraining or contrastive representation learning.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Graph-based refinement over predicted concepts before caption generation.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005840" y="5074920"/>
            <a:ext cx="10149840" cy="658368"/>
          </a:xfrm>
          <a:prstGeom prst="roundRect">
            <a:avLst>
              <a:gd name="adj" fmla="val 11111"/>
            </a:avLst>
          </a:prstGeom>
          <a:solidFill>
            <a:srgbClr val="E9F3F8"/>
          </a:solidFill>
          <a:ln w="12700">
            <a:solidFill>
              <a:srgbClr val="C9DC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234440" y="5321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continuation: improve rare-concept handling while preserving the strong global Micro-F1 behavior validated in the challenge.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07" y="320040"/>
            <a:ext cx="957626" cy="658368"/>
          </a:xfrm>
          <a:prstGeom prst="rect">
            <a:avLst/>
          </a:prstGeom>
        </p:spPr>
      </p:pic>
      <p:pic>
        <p:nvPicPr>
          <p:cNvPr id="3" name="Image 1" descr="/mnt/data/pptx_unzip/ppt/media/image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1112" y="301752"/>
            <a:ext cx="1141748" cy="6766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26925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Summary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777240" y="2057400"/>
            <a:ext cx="292608" cy="29260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2"/>
          <p:cNvSpPr/>
          <p:nvPr/>
        </p:nvSpPr>
        <p:spPr>
          <a:xfrm>
            <a:off x="832104" y="20756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79576" y="20756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2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multi-label concept-detection pipeline was designed, trained, calibrated, and evaluated.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77240" y="2670048"/>
            <a:ext cx="292608" cy="292608"/>
          </a:xfrm>
          <a:prstGeom prst="ellipse">
            <a:avLst/>
          </a:prstGeom>
          <a:solidFill>
            <a:srgbClr val="74D2E7"/>
          </a:solidFill>
          <a:ln w="12700">
            <a:solidFill>
              <a:srgbClr val="74D2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832104" y="2688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79576" y="2688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2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SwinMultiHead model directly addresses long-tail imbalance using frequency-aware label-space decomposition.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77240" y="3282696"/>
            <a:ext cx="292608" cy="292608"/>
          </a:xfrm>
          <a:prstGeom prst="ellipse">
            <a:avLst/>
          </a:prstGeom>
          <a:solidFill>
            <a:srgbClr val="E6A700"/>
          </a:solidFill>
          <a:ln w="12700">
            <a:solidFill>
              <a:srgbClr val="E6A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832104" y="33009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79576" y="330098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2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achieved 0.5725 on the official hidden test set and ranked 4th in the Concept Detection Task.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77240" y="3895344"/>
            <a:ext cx="292608" cy="292608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832104" y="3913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79576" y="39136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2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produced a thesis report, CEUR Working Notes submission, public code, and trained checkpoints.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452360" y="1965960"/>
            <a:ext cx="3429000" cy="2011680"/>
          </a:xfrm>
          <a:prstGeom prst="roundRect">
            <a:avLst>
              <a:gd name="adj" fmla="val 4545"/>
            </a:avLst>
          </a:prstGeom>
          <a:solidFill>
            <a:schemeClr val="accent1">
              <a:lumMod val="50000"/>
              <a:alpha val="92000"/>
            </a:schemeClr>
          </a:solidFill>
          <a:ln w="12700">
            <a:solidFill>
              <a:srgbClr val="74D2E7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7818120" y="2514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7818120" y="30906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DED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1109960" y="6446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125F68"/>
                </a:solidFill>
              </a:rPr>
              <a:t>17/17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02920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Vision–Language Approach • Concept Detection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2294</Words>
  <Application>Microsoft Office PowerPoint</Application>
  <PresentationFormat>Widescreen</PresentationFormat>
  <Paragraphs>408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Syrian Private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Vision–Language Approach for Concept-Based Medical Caption Generation – Final Defense</dc:title>
  <dc:subject>Final defense presentation for ImageCLEFmed Caption 2026 Concept Detection project</dc:subject>
  <dc:creator>Bashar Alsaleh</dc:creator>
  <cp:lastModifiedBy>Bashar Alasaleh</cp:lastModifiedBy>
  <cp:revision>14</cp:revision>
  <dcterms:created xsi:type="dcterms:W3CDTF">2026-05-29T12:20:04Z</dcterms:created>
  <dcterms:modified xsi:type="dcterms:W3CDTF">2026-05-29T16:04:36Z</dcterms:modified>
</cp:coreProperties>
</file>